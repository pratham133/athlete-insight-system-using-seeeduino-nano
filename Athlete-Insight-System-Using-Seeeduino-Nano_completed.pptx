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7775" y="0"/>
            <a:ext cx="5762625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1684" y="3217608"/>
            <a:ext cx="3370579" cy="963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0E4C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C2C4B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0E4C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rgbClr val="C2C4B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0E4C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0E4C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700" y="7753348"/>
            <a:ext cx="1724025" cy="4095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7544" y="502602"/>
            <a:ext cx="13275310" cy="121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0E4C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38325" y="1539811"/>
            <a:ext cx="11910060" cy="5677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rgbClr val="C2C4B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775" y="0"/>
            <a:ext cx="5762625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684" y="758952"/>
            <a:ext cx="6670040" cy="145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600"/>
              </a:lnSpc>
              <a:spcBef>
                <a:spcPts val="95"/>
              </a:spcBef>
            </a:pPr>
            <a:r>
              <a:rPr dirty="0"/>
              <a:t>Athlete</a:t>
            </a:r>
            <a:r>
              <a:rPr spc="-105" dirty="0"/>
              <a:t> </a:t>
            </a:r>
            <a:r>
              <a:rPr dirty="0"/>
              <a:t>Insight</a:t>
            </a:r>
            <a:r>
              <a:rPr spc="-150" dirty="0"/>
              <a:t> </a:t>
            </a:r>
            <a:r>
              <a:rPr dirty="0"/>
              <a:t>System</a:t>
            </a:r>
            <a:r>
              <a:rPr spc="-60" dirty="0"/>
              <a:t> </a:t>
            </a:r>
            <a:r>
              <a:rPr spc="-10" dirty="0"/>
              <a:t>Using </a:t>
            </a:r>
            <a:r>
              <a:rPr dirty="0"/>
              <a:t>Seeeduino</a:t>
            </a:r>
            <a:r>
              <a:rPr spc="50" dirty="0"/>
              <a:t> </a:t>
            </a:r>
            <a:r>
              <a:rPr spc="-20" dirty="0"/>
              <a:t>Nano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684" y="2534889"/>
            <a:ext cx="7106284" cy="5077031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Empowering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athletes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time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7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peak</a:t>
            </a:r>
            <a:r>
              <a:rPr sz="170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performance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preventive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care.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50" b="1" dirty="0">
                <a:solidFill>
                  <a:srgbClr val="E0E4CD"/>
                </a:solidFill>
                <a:latin typeface="Calibri"/>
                <a:cs typeface="Calibri"/>
              </a:rPr>
              <a:t>Presented</a:t>
            </a:r>
            <a:r>
              <a:rPr sz="2150" b="1" spc="80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0E4CD"/>
                </a:solidFill>
                <a:latin typeface="Calibri"/>
                <a:cs typeface="Calibri"/>
              </a:rPr>
              <a:t>By:</a:t>
            </a:r>
            <a:endParaRPr sz="21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215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MR.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PRATHAM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R.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PASI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50"/>
              </a:spcBef>
              <a:buChar char="•"/>
              <a:tabLst>
                <a:tab pos="354965" algn="l"/>
              </a:tabLst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MR.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45" dirty="0">
                <a:solidFill>
                  <a:srgbClr val="C2C4B5"/>
                </a:solidFill>
                <a:latin typeface="Cambria"/>
                <a:cs typeface="Cambria"/>
              </a:rPr>
              <a:t>PRANAY</a:t>
            </a:r>
            <a:r>
              <a:rPr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L.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BHARIT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MR.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45" dirty="0">
                <a:solidFill>
                  <a:srgbClr val="C2C4B5"/>
                </a:solidFill>
                <a:latin typeface="Cambria"/>
                <a:cs typeface="Cambria"/>
              </a:rPr>
              <a:t>ATHARVA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P.</a:t>
            </a:r>
            <a:r>
              <a:rPr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KESARE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MR.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60" dirty="0">
                <a:solidFill>
                  <a:srgbClr val="C2C4B5"/>
                </a:solidFill>
                <a:latin typeface="Cambria"/>
                <a:cs typeface="Cambria"/>
              </a:rPr>
              <a:t>KRISHNA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S.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DUBEY</a:t>
            </a:r>
            <a:endParaRPr sz="1700" dirty="0">
              <a:latin typeface="Cambria"/>
              <a:cs typeface="Cambria"/>
            </a:endParaRPr>
          </a:p>
          <a:p>
            <a:pPr marL="12700" marR="5080">
              <a:lnSpc>
                <a:spcPct val="143600"/>
              </a:lnSpc>
              <a:spcBef>
                <a:spcPts val="1939"/>
              </a:spcBef>
            </a:pP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Guide:</a:t>
            </a:r>
            <a:r>
              <a:rPr sz="1700" b="1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Prof.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Vijay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G.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Gupta</a:t>
            </a:r>
            <a:r>
              <a:rPr lang="en-US" sz="17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</a:p>
          <a:p>
            <a:pPr marL="12700" marR="5080">
              <a:lnSpc>
                <a:spcPct val="143600"/>
              </a:lnSpc>
              <a:spcBef>
                <a:spcPts val="1939"/>
              </a:spcBef>
            </a:pPr>
            <a:r>
              <a:rPr sz="1700" b="1" spc="50" dirty="0">
                <a:solidFill>
                  <a:srgbClr val="C2C4B5"/>
                </a:solidFill>
                <a:latin typeface="Cambria"/>
                <a:cs typeface="Cambria"/>
              </a:rPr>
              <a:t>Institution:</a:t>
            </a:r>
            <a:r>
              <a:rPr sz="1700" b="1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Shivajirao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S.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Jondhle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College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of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Engg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&amp;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Technology,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University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Mumbai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7775" y="0"/>
            <a:ext cx="5762625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7544" y="502602"/>
            <a:ext cx="638238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810"/>
              </a:lnSpc>
            </a:pPr>
            <a:r>
              <a:rPr sz="3800" dirty="0"/>
              <a:t>Introduction:</a:t>
            </a:r>
            <a:r>
              <a:rPr sz="3800" spc="-40" dirty="0"/>
              <a:t> </a:t>
            </a:r>
            <a:r>
              <a:rPr sz="3800" dirty="0"/>
              <a:t>Bridging</a:t>
            </a:r>
            <a:r>
              <a:rPr sz="3800" spc="-35" dirty="0"/>
              <a:t> </a:t>
            </a:r>
            <a:r>
              <a:rPr sz="3800" spc="-10" dirty="0"/>
              <a:t>Tech</a:t>
            </a:r>
            <a:r>
              <a:rPr sz="3800" spc="-50" dirty="0"/>
              <a:t> </a:t>
            </a:r>
            <a:r>
              <a:rPr sz="3800" spc="-25" dirty="0"/>
              <a:t>and </a:t>
            </a:r>
            <a:r>
              <a:rPr sz="3800" spc="-10" dirty="0"/>
              <a:t>Wellness</a:t>
            </a:r>
            <a:endParaRPr sz="3800"/>
          </a:p>
        </p:txBody>
      </p:sp>
      <p:sp>
        <p:nvSpPr>
          <p:cNvPr id="4" name="object 4"/>
          <p:cNvSpPr/>
          <p:nvPr/>
        </p:nvSpPr>
        <p:spPr>
          <a:xfrm>
            <a:off x="685800" y="3552825"/>
            <a:ext cx="28575" cy="762000"/>
          </a:xfrm>
          <a:custGeom>
            <a:avLst/>
            <a:gdLst/>
            <a:ahLst/>
            <a:cxnLst/>
            <a:rect l="l" t="t" r="r" b="b"/>
            <a:pathLst>
              <a:path w="28575" h="762000">
                <a:moveTo>
                  <a:pt x="28575" y="0"/>
                </a:moveTo>
                <a:lnTo>
                  <a:pt x="0" y="0"/>
                </a:lnTo>
                <a:lnTo>
                  <a:pt x="0" y="762000"/>
                </a:lnTo>
                <a:lnTo>
                  <a:pt x="28575" y="762000"/>
                </a:lnTo>
                <a:lnTo>
                  <a:pt x="28575" y="0"/>
                </a:lnTo>
                <a:close/>
              </a:path>
            </a:pathLst>
          </a:custGeom>
          <a:solidFill>
            <a:srgbClr val="9FA4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7544" y="2023118"/>
            <a:ext cx="7628890" cy="56470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85725">
              <a:lnSpc>
                <a:spcPct val="134600"/>
              </a:lnSpc>
              <a:spcBef>
                <a:spcPts val="75"/>
              </a:spcBef>
            </a:pP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project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introduces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"Smart</a:t>
            </a:r>
            <a:r>
              <a:rPr sz="15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Wearable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Fitness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Tracker"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designed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 real-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time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monitoring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5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physical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physiological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metrics.</a:t>
            </a:r>
            <a:r>
              <a:rPr sz="15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Positioned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at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convergence</a:t>
            </a:r>
            <a:r>
              <a:rPr sz="15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of </a:t>
            </a:r>
            <a:r>
              <a:rPr sz="1550" spc="45" dirty="0">
                <a:solidFill>
                  <a:srgbClr val="C2C4B5"/>
                </a:solidFill>
                <a:latin typeface="Cambria"/>
                <a:cs typeface="Cambria"/>
              </a:rPr>
              <a:t>digital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technology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health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sciences,</a:t>
            </a:r>
            <a:r>
              <a:rPr sz="15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it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contributes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5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era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5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personalized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wellness.</a:t>
            </a:r>
            <a:endParaRPr sz="15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5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550" dirty="0">
              <a:latin typeface="Cambria"/>
              <a:cs typeface="Cambria"/>
            </a:endParaRPr>
          </a:p>
          <a:p>
            <a:pPr marL="308610">
              <a:lnSpc>
                <a:spcPct val="100000"/>
              </a:lnSpc>
            </a:pP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"In</a:t>
            </a:r>
            <a:r>
              <a:rPr sz="15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age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5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personalized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wellness,</a:t>
            </a:r>
            <a:r>
              <a:rPr sz="15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precise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paramount."</a:t>
            </a:r>
            <a:endParaRPr sz="15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55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550" dirty="0">
              <a:latin typeface="Cambria"/>
              <a:cs typeface="Cambria"/>
            </a:endParaRPr>
          </a:p>
          <a:p>
            <a:pPr marL="12700" marR="431165">
              <a:lnSpc>
                <a:spcPct val="106700"/>
              </a:lnSpc>
            </a:pPr>
            <a:r>
              <a:rPr sz="3050" b="1" dirty="0">
                <a:solidFill>
                  <a:srgbClr val="E0E4CD"/>
                </a:solidFill>
                <a:latin typeface="Calibri"/>
                <a:cs typeface="Calibri"/>
              </a:rPr>
              <a:t>The</a:t>
            </a:r>
            <a:r>
              <a:rPr sz="3050" b="1" spc="70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E0E4CD"/>
                </a:solidFill>
                <a:latin typeface="Calibri"/>
                <a:cs typeface="Calibri"/>
              </a:rPr>
              <a:t>Problem:</a:t>
            </a:r>
            <a:r>
              <a:rPr sz="3050" b="1" spc="105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E0E4CD"/>
                </a:solidFill>
                <a:latin typeface="Calibri"/>
                <a:cs typeface="Calibri"/>
              </a:rPr>
              <a:t>Subjectivity</a:t>
            </a:r>
            <a:r>
              <a:rPr sz="3050" b="1" spc="10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E0E4CD"/>
                </a:solidFill>
                <a:latin typeface="Calibri"/>
                <a:cs typeface="Calibri"/>
              </a:rPr>
              <a:t>and</a:t>
            </a:r>
            <a:r>
              <a:rPr sz="3050" b="1" spc="55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E0E4CD"/>
                </a:solidFill>
                <a:latin typeface="Calibri"/>
                <a:cs typeface="Calibri"/>
              </a:rPr>
              <a:t>Inconsistency Inconsistency</a:t>
            </a:r>
            <a:endParaRPr sz="3050" dirty="0">
              <a:latin typeface="Calibri"/>
              <a:cs typeface="Calibri"/>
            </a:endParaRPr>
          </a:p>
          <a:p>
            <a:pPr marL="12700" marR="5715">
              <a:lnSpc>
                <a:spcPct val="135200"/>
              </a:lnSpc>
              <a:spcBef>
                <a:spcPts val="2330"/>
              </a:spcBef>
            </a:pPr>
            <a:r>
              <a:rPr sz="1550" spc="45" dirty="0">
                <a:solidFill>
                  <a:srgbClr val="C2C4B5"/>
                </a:solidFill>
                <a:latin typeface="Cambria"/>
                <a:cs typeface="Cambria"/>
              </a:rPr>
              <a:t>Traditional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fitness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tracking</a:t>
            </a:r>
            <a:r>
              <a:rPr sz="1550" spc="-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methods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are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often</a:t>
            </a:r>
            <a:r>
              <a:rPr sz="15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subjective,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inconsistent,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lack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the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precision</a:t>
            </a:r>
            <a:r>
              <a:rPr sz="15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modern</a:t>
            </a:r>
            <a:r>
              <a:rPr sz="15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technology.</a:t>
            </a:r>
            <a:r>
              <a:rPr sz="15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5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creates</a:t>
            </a:r>
            <a:r>
              <a:rPr sz="15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5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critical</a:t>
            </a:r>
            <a:r>
              <a:rPr sz="15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need</a:t>
            </a:r>
            <a:r>
              <a:rPr sz="15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data-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driven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approach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that</a:t>
            </a:r>
            <a:r>
              <a:rPr sz="1550" spc="-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empowers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users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accurate,</a:t>
            </a:r>
            <a:r>
              <a:rPr sz="15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time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health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-10" dirty="0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endParaRPr sz="1550" dirty="0">
              <a:latin typeface="Cambria"/>
              <a:cs typeface="Cambria"/>
            </a:endParaRPr>
          </a:p>
          <a:p>
            <a:pPr marL="12700" marR="5080">
              <a:lnSpc>
                <a:spcPct val="133200"/>
              </a:lnSpc>
              <a:spcBef>
                <a:spcPts val="1695"/>
              </a:spcBef>
            </a:pP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Our</a:t>
            </a:r>
            <a:r>
              <a:rPr sz="15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solution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aims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promote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self-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awareness,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motivation,</a:t>
            </a:r>
            <a:r>
              <a:rPr sz="15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proactive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preventive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healthcare.</a:t>
            </a:r>
            <a:endParaRPr sz="155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528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Our</a:t>
            </a:r>
            <a:r>
              <a:rPr sz="3950" spc="-10" dirty="0"/>
              <a:t> </a:t>
            </a:r>
            <a:r>
              <a:rPr sz="3950" dirty="0"/>
              <a:t>Vision:</a:t>
            </a:r>
            <a:r>
              <a:rPr sz="3950" spc="20" dirty="0"/>
              <a:t> </a:t>
            </a:r>
            <a:r>
              <a:rPr sz="3950" dirty="0"/>
              <a:t>Key</a:t>
            </a:r>
            <a:r>
              <a:rPr sz="3950" spc="55" dirty="0"/>
              <a:t> </a:t>
            </a:r>
            <a:r>
              <a:rPr sz="3950" spc="-10" dirty="0"/>
              <a:t>Objectives</a:t>
            </a:r>
            <a:endParaRPr sz="3950" dirty="0"/>
          </a:p>
        </p:txBody>
      </p:sp>
      <p:grpSp>
        <p:nvGrpSpPr>
          <p:cNvPr id="3" name="object 3"/>
          <p:cNvGrpSpPr/>
          <p:nvPr/>
        </p:nvGrpSpPr>
        <p:grpSpPr>
          <a:xfrm>
            <a:off x="723900" y="1724025"/>
            <a:ext cx="4257675" cy="3143250"/>
            <a:chOff x="723900" y="1724025"/>
            <a:chExt cx="4257675" cy="3143250"/>
          </a:xfrm>
        </p:grpSpPr>
        <p:sp>
          <p:nvSpPr>
            <p:cNvPr id="4" name="object 4"/>
            <p:cNvSpPr/>
            <p:nvPr/>
          </p:nvSpPr>
          <p:spPr>
            <a:xfrm>
              <a:off x="723900" y="2038350"/>
              <a:ext cx="4257675" cy="2828925"/>
            </a:xfrm>
            <a:custGeom>
              <a:avLst/>
              <a:gdLst/>
              <a:ahLst/>
              <a:cxnLst/>
              <a:rect l="l" t="t" r="r" b="b"/>
              <a:pathLst>
                <a:path w="4257675" h="2828925">
                  <a:moveTo>
                    <a:pt x="4148074" y="0"/>
                  </a:moveTo>
                  <a:lnTo>
                    <a:pt x="109626" y="0"/>
                  </a:lnTo>
                  <a:lnTo>
                    <a:pt x="66956" y="8606"/>
                  </a:lnTo>
                  <a:lnTo>
                    <a:pt x="32110" y="32083"/>
                  </a:lnTo>
                  <a:lnTo>
                    <a:pt x="8615" y="66919"/>
                  </a:lnTo>
                  <a:lnTo>
                    <a:pt x="0" y="109600"/>
                  </a:lnTo>
                  <a:lnTo>
                    <a:pt x="0" y="2719324"/>
                  </a:lnTo>
                  <a:lnTo>
                    <a:pt x="8615" y="2762005"/>
                  </a:lnTo>
                  <a:lnTo>
                    <a:pt x="32110" y="2796841"/>
                  </a:lnTo>
                  <a:lnTo>
                    <a:pt x="66956" y="2820318"/>
                  </a:lnTo>
                  <a:lnTo>
                    <a:pt x="109626" y="2828925"/>
                  </a:lnTo>
                  <a:lnTo>
                    <a:pt x="4148074" y="2828925"/>
                  </a:lnTo>
                  <a:lnTo>
                    <a:pt x="4190755" y="2820318"/>
                  </a:lnTo>
                  <a:lnTo>
                    <a:pt x="4225591" y="2796841"/>
                  </a:lnTo>
                  <a:lnTo>
                    <a:pt x="4249068" y="2762005"/>
                  </a:lnTo>
                  <a:lnTo>
                    <a:pt x="4257675" y="2719324"/>
                  </a:lnTo>
                  <a:lnTo>
                    <a:pt x="4257675" y="109600"/>
                  </a:lnTo>
                  <a:lnTo>
                    <a:pt x="4249068" y="66919"/>
                  </a:lnTo>
                  <a:lnTo>
                    <a:pt x="4225591" y="32083"/>
                  </a:lnTo>
                  <a:lnTo>
                    <a:pt x="4190755" y="8606"/>
                  </a:lnTo>
                  <a:lnTo>
                    <a:pt x="4148074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3900" y="1724024"/>
              <a:ext cx="4257675" cy="619125"/>
            </a:xfrm>
            <a:custGeom>
              <a:avLst/>
              <a:gdLst/>
              <a:ahLst/>
              <a:cxnLst/>
              <a:rect l="l" t="t" r="r" b="b"/>
              <a:pathLst>
                <a:path w="4257675" h="619125">
                  <a:moveTo>
                    <a:pt x="4257675" y="317881"/>
                  </a:moveTo>
                  <a:lnTo>
                    <a:pt x="4255147" y="305371"/>
                  </a:lnTo>
                  <a:lnTo>
                    <a:pt x="4248277" y="295148"/>
                  </a:lnTo>
                  <a:lnTo>
                    <a:pt x="4238053" y="288277"/>
                  </a:lnTo>
                  <a:lnTo>
                    <a:pt x="4225544" y="285750"/>
                  </a:lnTo>
                  <a:lnTo>
                    <a:pt x="2436647" y="285750"/>
                  </a:lnTo>
                  <a:lnTo>
                    <a:pt x="2435034" y="263766"/>
                  </a:lnTo>
                  <a:lnTo>
                    <a:pt x="2425293" y="220116"/>
                  </a:lnTo>
                  <a:lnTo>
                    <a:pt x="2409634" y="179019"/>
                  </a:lnTo>
                  <a:lnTo>
                    <a:pt x="2388539" y="140970"/>
                  </a:lnTo>
                  <a:lnTo>
                    <a:pt x="2362479" y="106451"/>
                  </a:lnTo>
                  <a:lnTo>
                    <a:pt x="2331948" y="75920"/>
                  </a:lnTo>
                  <a:lnTo>
                    <a:pt x="2297430" y="49860"/>
                  </a:lnTo>
                  <a:lnTo>
                    <a:pt x="2259380" y="28765"/>
                  </a:lnTo>
                  <a:lnTo>
                    <a:pt x="2218283" y="13106"/>
                  </a:lnTo>
                  <a:lnTo>
                    <a:pt x="2174633" y="3365"/>
                  </a:lnTo>
                  <a:lnTo>
                    <a:pt x="2128901" y="0"/>
                  </a:lnTo>
                  <a:lnTo>
                    <a:pt x="2083130" y="3365"/>
                  </a:lnTo>
                  <a:lnTo>
                    <a:pt x="2039442" y="13106"/>
                  </a:lnTo>
                  <a:lnTo>
                    <a:pt x="1998332" y="28765"/>
                  </a:lnTo>
                  <a:lnTo>
                    <a:pt x="1960270" y="49860"/>
                  </a:lnTo>
                  <a:lnTo>
                    <a:pt x="1925726" y="75920"/>
                  </a:lnTo>
                  <a:lnTo>
                    <a:pt x="1895195" y="106451"/>
                  </a:lnTo>
                  <a:lnTo>
                    <a:pt x="1869135" y="140970"/>
                  </a:lnTo>
                  <a:lnTo>
                    <a:pt x="1848040" y="179019"/>
                  </a:lnTo>
                  <a:lnTo>
                    <a:pt x="1832368" y="220116"/>
                  </a:lnTo>
                  <a:lnTo>
                    <a:pt x="1822627" y="263766"/>
                  </a:lnTo>
                  <a:lnTo>
                    <a:pt x="1821014" y="285750"/>
                  </a:lnTo>
                  <a:lnTo>
                    <a:pt x="32131" y="285750"/>
                  </a:lnTo>
                  <a:lnTo>
                    <a:pt x="19621" y="288277"/>
                  </a:lnTo>
                  <a:lnTo>
                    <a:pt x="9410" y="295148"/>
                  </a:lnTo>
                  <a:lnTo>
                    <a:pt x="2514" y="305371"/>
                  </a:lnTo>
                  <a:lnTo>
                    <a:pt x="0" y="317881"/>
                  </a:lnTo>
                  <a:lnTo>
                    <a:pt x="0" y="348869"/>
                  </a:lnTo>
                  <a:lnTo>
                    <a:pt x="2514" y="361391"/>
                  </a:lnTo>
                  <a:lnTo>
                    <a:pt x="9410" y="371602"/>
                  </a:lnTo>
                  <a:lnTo>
                    <a:pt x="19621" y="378485"/>
                  </a:lnTo>
                  <a:lnTo>
                    <a:pt x="32131" y="381000"/>
                  </a:lnTo>
                  <a:lnTo>
                    <a:pt x="1828355" y="381000"/>
                  </a:lnTo>
                  <a:lnTo>
                    <a:pt x="1832368" y="398957"/>
                  </a:lnTo>
                  <a:lnTo>
                    <a:pt x="1848040" y="440067"/>
                  </a:lnTo>
                  <a:lnTo>
                    <a:pt x="1869135" y="478129"/>
                  </a:lnTo>
                  <a:lnTo>
                    <a:pt x="1895195" y="512673"/>
                  </a:lnTo>
                  <a:lnTo>
                    <a:pt x="1925726" y="543204"/>
                  </a:lnTo>
                  <a:lnTo>
                    <a:pt x="1960270" y="569264"/>
                  </a:lnTo>
                  <a:lnTo>
                    <a:pt x="1998332" y="590359"/>
                  </a:lnTo>
                  <a:lnTo>
                    <a:pt x="2039442" y="606031"/>
                  </a:lnTo>
                  <a:lnTo>
                    <a:pt x="2083130" y="615772"/>
                  </a:lnTo>
                  <a:lnTo>
                    <a:pt x="2128901" y="619125"/>
                  </a:lnTo>
                  <a:lnTo>
                    <a:pt x="2174633" y="615772"/>
                  </a:lnTo>
                  <a:lnTo>
                    <a:pt x="2218283" y="606031"/>
                  </a:lnTo>
                  <a:lnTo>
                    <a:pt x="2259380" y="590359"/>
                  </a:lnTo>
                  <a:lnTo>
                    <a:pt x="2297430" y="569264"/>
                  </a:lnTo>
                  <a:lnTo>
                    <a:pt x="2331948" y="543204"/>
                  </a:lnTo>
                  <a:lnTo>
                    <a:pt x="2362479" y="512673"/>
                  </a:lnTo>
                  <a:lnTo>
                    <a:pt x="2388539" y="478129"/>
                  </a:lnTo>
                  <a:lnTo>
                    <a:pt x="2409634" y="440067"/>
                  </a:lnTo>
                  <a:lnTo>
                    <a:pt x="2425293" y="398957"/>
                  </a:lnTo>
                  <a:lnTo>
                    <a:pt x="2429294" y="381000"/>
                  </a:lnTo>
                  <a:lnTo>
                    <a:pt x="4225544" y="381000"/>
                  </a:lnTo>
                  <a:lnTo>
                    <a:pt x="4238053" y="378485"/>
                  </a:lnTo>
                  <a:lnTo>
                    <a:pt x="4248277" y="371602"/>
                  </a:lnTo>
                  <a:lnTo>
                    <a:pt x="4255147" y="361391"/>
                  </a:lnTo>
                  <a:lnTo>
                    <a:pt x="4257675" y="348869"/>
                  </a:lnTo>
                  <a:lnTo>
                    <a:pt x="4257675" y="317881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15260" y="1928431"/>
            <a:ext cx="1466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50" dirty="0"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5989" y="2521267"/>
            <a:ext cx="35306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Wearable</a:t>
            </a:r>
            <a:r>
              <a:rPr sz="2000" b="1" spc="-6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Design</a:t>
            </a:r>
            <a:r>
              <a:rPr sz="2000" b="1" spc="2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&amp;</a:t>
            </a:r>
            <a:r>
              <a:rPr sz="2000" b="1" spc="-2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Development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989" y="3260321"/>
            <a:ext cx="3552825" cy="1351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25"/>
              </a:spcBef>
            </a:pP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Design</a:t>
            </a:r>
            <a:r>
              <a:rPr sz="15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2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develop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smart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wearable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fitness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tracker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utilizing</a:t>
            </a:r>
            <a:r>
              <a:rPr sz="15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Seeeduino </a:t>
            </a:r>
            <a:r>
              <a:rPr sz="1550" spc="130" dirty="0">
                <a:solidFill>
                  <a:srgbClr val="C2C4B5"/>
                </a:solidFill>
                <a:latin typeface="Cambria"/>
                <a:cs typeface="Cambria"/>
              </a:rPr>
              <a:t>Nano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microcontroller,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ensuring</a:t>
            </a:r>
            <a:r>
              <a:rPr sz="15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45" dirty="0">
                <a:solidFill>
                  <a:srgbClr val="C2C4B5"/>
                </a:solidFill>
                <a:latin typeface="Cambria"/>
                <a:cs typeface="Cambria"/>
              </a:rPr>
              <a:t>a </a:t>
            </a:r>
            <a:r>
              <a:rPr sz="1550" spc="114" dirty="0">
                <a:solidFill>
                  <a:srgbClr val="C2C4B5"/>
                </a:solidFill>
                <a:latin typeface="Cambria"/>
                <a:cs typeface="Cambria"/>
              </a:rPr>
              <a:t>compact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efficient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form</a:t>
            </a:r>
            <a:r>
              <a:rPr sz="15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factor.</a:t>
            </a:r>
            <a:endParaRPr sz="1550" dirty="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81600" y="1724025"/>
            <a:ext cx="4267200" cy="3143250"/>
            <a:chOff x="5181600" y="1724025"/>
            <a:chExt cx="4267200" cy="3143250"/>
          </a:xfrm>
        </p:grpSpPr>
        <p:sp>
          <p:nvSpPr>
            <p:cNvPr id="10" name="object 10"/>
            <p:cNvSpPr/>
            <p:nvPr/>
          </p:nvSpPr>
          <p:spPr>
            <a:xfrm>
              <a:off x="5181600" y="2038350"/>
              <a:ext cx="4267200" cy="2828925"/>
            </a:xfrm>
            <a:custGeom>
              <a:avLst/>
              <a:gdLst/>
              <a:ahLst/>
              <a:cxnLst/>
              <a:rect l="l" t="t" r="r" b="b"/>
              <a:pathLst>
                <a:path w="4267200" h="2828925">
                  <a:moveTo>
                    <a:pt x="4157599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2719324"/>
                  </a:lnTo>
                  <a:lnTo>
                    <a:pt x="8606" y="2762005"/>
                  </a:lnTo>
                  <a:lnTo>
                    <a:pt x="32083" y="2796841"/>
                  </a:lnTo>
                  <a:lnTo>
                    <a:pt x="66919" y="2820318"/>
                  </a:lnTo>
                  <a:lnTo>
                    <a:pt x="109600" y="2828925"/>
                  </a:lnTo>
                  <a:lnTo>
                    <a:pt x="4157599" y="2828925"/>
                  </a:lnTo>
                  <a:lnTo>
                    <a:pt x="4200280" y="2820318"/>
                  </a:lnTo>
                  <a:lnTo>
                    <a:pt x="4235116" y="2796841"/>
                  </a:lnTo>
                  <a:lnTo>
                    <a:pt x="4258593" y="2762005"/>
                  </a:lnTo>
                  <a:lnTo>
                    <a:pt x="4267200" y="2719324"/>
                  </a:lnTo>
                  <a:lnTo>
                    <a:pt x="4267200" y="109600"/>
                  </a:lnTo>
                  <a:lnTo>
                    <a:pt x="4258593" y="66919"/>
                  </a:lnTo>
                  <a:lnTo>
                    <a:pt x="4235116" y="32083"/>
                  </a:lnTo>
                  <a:lnTo>
                    <a:pt x="4200280" y="8606"/>
                  </a:lnTo>
                  <a:lnTo>
                    <a:pt x="4157599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1600" y="1724024"/>
              <a:ext cx="4267200" cy="619125"/>
            </a:xfrm>
            <a:custGeom>
              <a:avLst/>
              <a:gdLst/>
              <a:ahLst/>
              <a:cxnLst/>
              <a:rect l="l" t="t" r="r" b="b"/>
              <a:pathLst>
                <a:path w="4267200" h="619125">
                  <a:moveTo>
                    <a:pt x="4267200" y="317881"/>
                  </a:moveTo>
                  <a:lnTo>
                    <a:pt x="4264672" y="305371"/>
                  </a:lnTo>
                  <a:lnTo>
                    <a:pt x="4257802" y="295148"/>
                  </a:lnTo>
                  <a:lnTo>
                    <a:pt x="4247578" y="288277"/>
                  </a:lnTo>
                  <a:lnTo>
                    <a:pt x="4235069" y="285750"/>
                  </a:lnTo>
                  <a:lnTo>
                    <a:pt x="2436850" y="285750"/>
                  </a:lnTo>
                  <a:lnTo>
                    <a:pt x="2434399" y="255384"/>
                  </a:lnTo>
                  <a:lnTo>
                    <a:pt x="2422855" y="208483"/>
                  </a:lnTo>
                  <a:lnTo>
                    <a:pt x="2404364" y="164757"/>
                  </a:lnTo>
                  <a:lnTo>
                    <a:pt x="2379573" y="124828"/>
                  </a:lnTo>
                  <a:lnTo>
                    <a:pt x="2349093" y="89306"/>
                  </a:lnTo>
                  <a:lnTo>
                    <a:pt x="2313584" y="58839"/>
                  </a:lnTo>
                  <a:lnTo>
                    <a:pt x="2273643" y="34036"/>
                  </a:lnTo>
                  <a:lnTo>
                    <a:pt x="2229916" y="15557"/>
                  </a:lnTo>
                  <a:lnTo>
                    <a:pt x="2183015" y="4000"/>
                  </a:lnTo>
                  <a:lnTo>
                    <a:pt x="2133600" y="0"/>
                  </a:lnTo>
                  <a:lnTo>
                    <a:pt x="2084171" y="4000"/>
                  </a:lnTo>
                  <a:lnTo>
                    <a:pt x="2037283" y="15557"/>
                  </a:lnTo>
                  <a:lnTo>
                    <a:pt x="1993544" y="34036"/>
                  </a:lnTo>
                  <a:lnTo>
                    <a:pt x="1953615" y="58839"/>
                  </a:lnTo>
                  <a:lnTo>
                    <a:pt x="1918093" y="89306"/>
                  </a:lnTo>
                  <a:lnTo>
                    <a:pt x="1887626" y="124828"/>
                  </a:lnTo>
                  <a:lnTo>
                    <a:pt x="1862823" y="164757"/>
                  </a:lnTo>
                  <a:lnTo>
                    <a:pt x="1844344" y="208483"/>
                  </a:lnTo>
                  <a:lnTo>
                    <a:pt x="1832787" y="255384"/>
                  </a:lnTo>
                  <a:lnTo>
                    <a:pt x="1830336" y="285750"/>
                  </a:lnTo>
                  <a:lnTo>
                    <a:pt x="32131" y="285750"/>
                  </a:lnTo>
                  <a:lnTo>
                    <a:pt x="19608" y="288277"/>
                  </a:lnTo>
                  <a:lnTo>
                    <a:pt x="9398" y="295148"/>
                  </a:lnTo>
                  <a:lnTo>
                    <a:pt x="2514" y="305371"/>
                  </a:lnTo>
                  <a:lnTo>
                    <a:pt x="0" y="317881"/>
                  </a:lnTo>
                  <a:lnTo>
                    <a:pt x="0" y="348869"/>
                  </a:lnTo>
                  <a:lnTo>
                    <a:pt x="2514" y="361391"/>
                  </a:lnTo>
                  <a:lnTo>
                    <a:pt x="9398" y="371602"/>
                  </a:lnTo>
                  <a:lnTo>
                    <a:pt x="19608" y="378485"/>
                  </a:lnTo>
                  <a:lnTo>
                    <a:pt x="32131" y="381000"/>
                  </a:lnTo>
                  <a:lnTo>
                    <a:pt x="1837029" y="381000"/>
                  </a:lnTo>
                  <a:lnTo>
                    <a:pt x="1844332" y="410654"/>
                  </a:lnTo>
                  <a:lnTo>
                    <a:pt x="1862823" y="454380"/>
                  </a:lnTo>
                  <a:lnTo>
                    <a:pt x="1887626" y="494309"/>
                  </a:lnTo>
                  <a:lnTo>
                    <a:pt x="1918093" y="529831"/>
                  </a:lnTo>
                  <a:lnTo>
                    <a:pt x="1953615" y="560298"/>
                  </a:lnTo>
                  <a:lnTo>
                    <a:pt x="1993544" y="585101"/>
                  </a:lnTo>
                  <a:lnTo>
                    <a:pt x="2037283" y="603580"/>
                  </a:lnTo>
                  <a:lnTo>
                    <a:pt x="2084171" y="615137"/>
                  </a:lnTo>
                  <a:lnTo>
                    <a:pt x="2133600" y="619125"/>
                  </a:lnTo>
                  <a:lnTo>
                    <a:pt x="2183015" y="615137"/>
                  </a:lnTo>
                  <a:lnTo>
                    <a:pt x="2229904" y="603580"/>
                  </a:lnTo>
                  <a:lnTo>
                    <a:pt x="2273643" y="585101"/>
                  </a:lnTo>
                  <a:lnTo>
                    <a:pt x="2313571" y="560298"/>
                  </a:lnTo>
                  <a:lnTo>
                    <a:pt x="2349093" y="529831"/>
                  </a:lnTo>
                  <a:lnTo>
                    <a:pt x="2379561" y="494309"/>
                  </a:lnTo>
                  <a:lnTo>
                    <a:pt x="2404364" y="454380"/>
                  </a:lnTo>
                  <a:lnTo>
                    <a:pt x="2422855" y="410654"/>
                  </a:lnTo>
                  <a:lnTo>
                    <a:pt x="2430145" y="381000"/>
                  </a:lnTo>
                  <a:lnTo>
                    <a:pt x="4235069" y="381000"/>
                  </a:lnTo>
                  <a:lnTo>
                    <a:pt x="4247578" y="378485"/>
                  </a:lnTo>
                  <a:lnTo>
                    <a:pt x="4257802" y="371602"/>
                  </a:lnTo>
                  <a:lnTo>
                    <a:pt x="4264672" y="361391"/>
                  </a:lnTo>
                  <a:lnTo>
                    <a:pt x="4267200" y="348869"/>
                  </a:lnTo>
                  <a:lnTo>
                    <a:pt x="4267200" y="317881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183501" y="1928431"/>
            <a:ext cx="1466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50" dirty="0">
                <a:latin typeface="Calibri"/>
                <a:cs typeface="Calibri"/>
              </a:rPr>
              <a:t>2</a:t>
            </a:r>
            <a:endParaRPr sz="185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4484" y="2521267"/>
            <a:ext cx="3594100" cy="209105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846455">
              <a:lnSpc>
                <a:spcPct val="103200"/>
              </a:lnSpc>
              <a:spcBef>
                <a:spcPts val="50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Sensor</a:t>
            </a:r>
            <a:r>
              <a:rPr sz="2000" b="1" spc="-6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Integration</a:t>
            </a:r>
            <a:r>
              <a:rPr sz="2000" b="1" spc="-5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&amp;</a:t>
            </a:r>
            <a:r>
              <a:rPr sz="2000" b="1" spc="-20" dirty="0">
                <a:solidFill>
                  <a:srgbClr val="C2C4B5"/>
                </a:solidFill>
                <a:latin typeface="Calibri"/>
                <a:cs typeface="Calibri"/>
              </a:rPr>
              <a:t> Data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Collection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40000"/>
              </a:lnSpc>
              <a:spcBef>
                <a:spcPts val="935"/>
              </a:spcBef>
            </a:pP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Integrate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advanced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sensors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comprehensive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collection</a:t>
            </a:r>
            <a:r>
              <a:rPr sz="15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on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key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metrics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including</a:t>
            </a:r>
            <a:r>
              <a:rPr sz="15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steps,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calories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burned,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heart</a:t>
            </a:r>
            <a:r>
              <a:rPr sz="15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rate,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temperature.</a:t>
            </a:r>
            <a:endParaRPr sz="1550" dirty="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648825" y="1724025"/>
            <a:ext cx="4257675" cy="3143250"/>
            <a:chOff x="9648825" y="1724025"/>
            <a:chExt cx="4257675" cy="3143250"/>
          </a:xfrm>
        </p:grpSpPr>
        <p:sp>
          <p:nvSpPr>
            <p:cNvPr id="15" name="object 15"/>
            <p:cNvSpPr/>
            <p:nvPr/>
          </p:nvSpPr>
          <p:spPr>
            <a:xfrm>
              <a:off x="9648825" y="2038350"/>
              <a:ext cx="4257675" cy="2828925"/>
            </a:xfrm>
            <a:custGeom>
              <a:avLst/>
              <a:gdLst/>
              <a:ahLst/>
              <a:cxnLst/>
              <a:rect l="l" t="t" r="r" b="b"/>
              <a:pathLst>
                <a:path w="4257675" h="2828925">
                  <a:moveTo>
                    <a:pt x="4148073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2719324"/>
                  </a:lnTo>
                  <a:lnTo>
                    <a:pt x="8606" y="2762005"/>
                  </a:lnTo>
                  <a:lnTo>
                    <a:pt x="32083" y="2796841"/>
                  </a:lnTo>
                  <a:lnTo>
                    <a:pt x="66919" y="2820318"/>
                  </a:lnTo>
                  <a:lnTo>
                    <a:pt x="109600" y="2828925"/>
                  </a:lnTo>
                  <a:lnTo>
                    <a:pt x="4148073" y="2828925"/>
                  </a:lnTo>
                  <a:lnTo>
                    <a:pt x="4190755" y="2820318"/>
                  </a:lnTo>
                  <a:lnTo>
                    <a:pt x="4225591" y="2796841"/>
                  </a:lnTo>
                  <a:lnTo>
                    <a:pt x="4249068" y="2762005"/>
                  </a:lnTo>
                  <a:lnTo>
                    <a:pt x="4257675" y="2719324"/>
                  </a:lnTo>
                  <a:lnTo>
                    <a:pt x="4257675" y="109600"/>
                  </a:lnTo>
                  <a:lnTo>
                    <a:pt x="4249068" y="66919"/>
                  </a:lnTo>
                  <a:lnTo>
                    <a:pt x="4225591" y="32083"/>
                  </a:lnTo>
                  <a:lnTo>
                    <a:pt x="4190755" y="8606"/>
                  </a:lnTo>
                  <a:lnTo>
                    <a:pt x="4148073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48825" y="1724024"/>
              <a:ext cx="4257675" cy="619125"/>
            </a:xfrm>
            <a:custGeom>
              <a:avLst/>
              <a:gdLst/>
              <a:ahLst/>
              <a:cxnLst/>
              <a:rect l="l" t="t" r="r" b="b"/>
              <a:pathLst>
                <a:path w="4257675" h="619125">
                  <a:moveTo>
                    <a:pt x="4257675" y="317881"/>
                  </a:moveTo>
                  <a:lnTo>
                    <a:pt x="4255147" y="305371"/>
                  </a:lnTo>
                  <a:lnTo>
                    <a:pt x="4248277" y="295148"/>
                  </a:lnTo>
                  <a:lnTo>
                    <a:pt x="4238053" y="288277"/>
                  </a:lnTo>
                  <a:lnTo>
                    <a:pt x="4225544" y="285750"/>
                  </a:lnTo>
                  <a:lnTo>
                    <a:pt x="2436647" y="285750"/>
                  </a:lnTo>
                  <a:lnTo>
                    <a:pt x="2435034" y="263766"/>
                  </a:lnTo>
                  <a:lnTo>
                    <a:pt x="2425293" y="220116"/>
                  </a:lnTo>
                  <a:lnTo>
                    <a:pt x="2409634" y="179019"/>
                  </a:lnTo>
                  <a:lnTo>
                    <a:pt x="2388539" y="140970"/>
                  </a:lnTo>
                  <a:lnTo>
                    <a:pt x="2362479" y="106451"/>
                  </a:lnTo>
                  <a:lnTo>
                    <a:pt x="2331948" y="75920"/>
                  </a:lnTo>
                  <a:lnTo>
                    <a:pt x="2297430" y="49860"/>
                  </a:lnTo>
                  <a:lnTo>
                    <a:pt x="2259380" y="28765"/>
                  </a:lnTo>
                  <a:lnTo>
                    <a:pt x="2218283" y="13106"/>
                  </a:lnTo>
                  <a:lnTo>
                    <a:pt x="2174633" y="3365"/>
                  </a:lnTo>
                  <a:lnTo>
                    <a:pt x="2128901" y="0"/>
                  </a:lnTo>
                  <a:lnTo>
                    <a:pt x="2083130" y="3365"/>
                  </a:lnTo>
                  <a:lnTo>
                    <a:pt x="2039442" y="13106"/>
                  </a:lnTo>
                  <a:lnTo>
                    <a:pt x="1998332" y="28765"/>
                  </a:lnTo>
                  <a:lnTo>
                    <a:pt x="1960270" y="49860"/>
                  </a:lnTo>
                  <a:lnTo>
                    <a:pt x="1925726" y="75920"/>
                  </a:lnTo>
                  <a:lnTo>
                    <a:pt x="1895195" y="106451"/>
                  </a:lnTo>
                  <a:lnTo>
                    <a:pt x="1869135" y="140970"/>
                  </a:lnTo>
                  <a:lnTo>
                    <a:pt x="1848040" y="179019"/>
                  </a:lnTo>
                  <a:lnTo>
                    <a:pt x="1832368" y="220116"/>
                  </a:lnTo>
                  <a:lnTo>
                    <a:pt x="1822627" y="263766"/>
                  </a:lnTo>
                  <a:lnTo>
                    <a:pt x="1821014" y="285750"/>
                  </a:lnTo>
                  <a:lnTo>
                    <a:pt x="32131" y="285750"/>
                  </a:lnTo>
                  <a:lnTo>
                    <a:pt x="19608" y="288277"/>
                  </a:lnTo>
                  <a:lnTo>
                    <a:pt x="9385" y="295148"/>
                  </a:lnTo>
                  <a:lnTo>
                    <a:pt x="2514" y="305371"/>
                  </a:lnTo>
                  <a:lnTo>
                    <a:pt x="0" y="317881"/>
                  </a:lnTo>
                  <a:lnTo>
                    <a:pt x="0" y="348869"/>
                  </a:lnTo>
                  <a:lnTo>
                    <a:pt x="2514" y="361391"/>
                  </a:lnTo>
                  <a:lnTo>
                    <a:pt x="9398" y="371602"/>
                  </a:lnTo>
                  <a:lnTo>
                    <a:pt x="19608" y="378485"/>
                  </a:lnTo>
                  <a:lnTo>
                    <a:pt x="32131" y="381000"/>
                  </a:lnTo>
                  <a:lnTo>
                    <a:pt x="1828355" y="381000"/>
                  </a:lnTo>
                  <a:lnTo>
                    <a:pt x="1832368" y="398957"/>
                  </a:lnTo>
                  <a:lnTo>
                    <a:pt x="1848040" y="440067"/>
                  </a:lnTo>
                  <a:lnTo>
                    <a:pt x="1869135" y="478129"/>
                  </a:lnTo>
                  <a:lnTo>
                    <a:pt x="1895195" y="512673"/>
                  </a:lnTo>
                  <a:lnTo>
                    <a:pt x="1925726" y="543204"/>
                  </a:lnTo>
                  <a:lnTo>
                    <a:pt x="1960270" y="569264"/>
                  </a:lnTo>
                  <a:lnTo>
                    <a:pt x="1998332" y="590359"/>
                  </a:lnTo>
                  <a:lnTo>
                    <a:pt x="2039442" y="606031"/>
                  </a:lnTo>
                  <a:lnTo>
                    <a:pt x="2083130" y="615772"/>
                  </a:lnTo>
                  <a:lnTo>
                    <a:pt x="2128901" y="619125"/>
                  </a:lnTo>
                  <a:lnTo>
                    <a:pt x="2174633" y="615772"/>
                  </a:lnTo>
                  <a:lnTo>
                    <a:pt x="2218283" y="606031"/>
                  </a:lnTo>
                  <a:lnTo>
                    <a:pt x="2259380" y="590359"/>
                  </a:lnTo>
                  <a:lnTo>
                    <a:pt x="2297430" y="569264"/>
                  </a:lnTo>
                  <a:lnTo>
                    <a:pt x="2331948" y="543204"/>
                  </a:lnTo>
                  <a:lnTo>
                    <a:pt x="2362479" y="512673"/>
                  </a:lnTo>
                  <a:lnTo>
                    <a:pt x="2388539" y="478129"/>
                  </a:lnTo>
                  <a:lnTo>
                    <a:pt x="2409634" y="440067"/>
                  </a:lnTo>
                  <a:lnTo>
                    <a:pt x="2425293" y="398957"/>
                  </a:lnTo>
                  <a:lnTo>
                    <a:pt x="2429294" y="381000"/>
                  </a:lnTo>
                  <a:lnTo>
                    <a:pt x="4225544" y="381000"/>
                  </a:lnTo>
                  <a:lnTo>
                    <a:pt x="4238053" y="378485"/>
                  </a:lnTo>
                  <a:lnTo>
                    <a:pt x="4248277" y="371602"/>
                  </a:lnTo>
                  <a:lnTo>
                    <a:pt x="4255147" y="361391"/>
                  </a:lnTo>
                  <a:lnTo>
                    <a:pt x="4257675" y="348869"/>
                  </a:lnTo>
                  <a:lnTo>
                    <a:pt x="4257675" y="317881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651995" y="1928431"/>
            <a:ext cx="1466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50" dirty="0"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72980" y="2521267"/>
            <a:ext cx="3737610" cy="2103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Seamless</a:t>
            </a:r>
            <a:r>
              <a:rPr sz="2000" b="1" spc="-10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Connectivity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40300"/>
              </a:lnSpc>
              <a:spcBef>
                <a:spcPts val="880"/>
              </a:spcBef>
            </a:pP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Establish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robust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Bluetooth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connectivity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between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5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wearable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device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2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40" dirty="0">
                <a:solidFill>
                  <a:srgbClr val="C2C4B5"/>
                </a:solidFill>
                <a:latin typeface="Cambria"/>
                <a:cs typeface="Cambria"/>
              </a:rPr>
              <a:t>a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dedicated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mobile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application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efficient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synchronization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and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intuitive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visualization.</a:t>
            </a:r>
            <a:endParaRPr sz="1550" dirty="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3900" y="5076825"/>
            <a:ext cx="6486525" cy="2476500"/>
            <a:chOff x="723900" y="5076825"/>
            <a:chExt cx="6486525" cy="2476500"/>
          </a:xfrm>
        </p:grpSpPr>
        <p:sp>
          <p:nvSpPr>
            <p:cNvPr id="20" name="object 20"/>
            <p:cNvSpPr/>
            <p:nvPr/>
          </p:nvSpPr>
          <p:spPr>
            <a:xfrm>
              <a:off x="723900" y="5381625"/>
              <a:ext cx="6486525" cy="2171700"/>
            </a:xfrm>
            <a:custGeom>
              <a:avLst/>
              <a:gdLst/>
              <a:ahLst/>
              <a:cxnLst/>
              <a:rect l="l" t="t" r="r" b="b"/>
              <a:pathLst>
                <a:path w="6486525" h="2171700">
                  <a:moveTo>
                    <a:pt x="6376924" y="0"/>
                  </a:moveTo>
                  <a:lnTo>
                    <a:pt x="109600" y="0"/>
                  </a:lnTo>
                  <a:lnTo>
                    <a:pt x="66940" y="8606"/>
                  </a:lnTo>
                  <a:lnTo>
                    <a:pt x="32102" y="32083"/>
                  </a:lnTo>
                  <a:lnTo>
                    <a:pt x="8613" y="66919"/>
                  </a:lnTo>
                  <a:lnTo>
                    <a:pt x="0" y="109600"/>
                  </a:lnTo>
                  <a:lnTo>
                    <a:pt x="0" y="2062099"/>
                  </a:lnTo>
                  <a:lnTo>
                    <a:pt x="8613" y="2104759"/>
                  </a:lnTo>
                  <a:lnTo>
                    <a:pt x="32102" y="2139597"/>
                  </a:lnTo>
                  <a:lnTo>
                    <a:pt x="66940" y="2163086"/>
                  </a:lnTo>
                  <a:lnTo>
                    <a:pt x="109600" y="2171700"/>
                  </a:lnTo>
                  <a:lnTo>
                    <a:pt x="6376924" y="2171700"/>
                  </a:lnTo>
                  <a:lnTo>
                    <a:pt x="6419605" y="2163086"/>
                  </a:lnTo>
                  <a:lnTo>
                    <a:pt x="6454441" y="2139597"/>
                  </a:lnTo>
                  <a:lnTo>
                    <a:pt x="6477918" y="2104759"/>
                  </a:lnTo>
                  <a:lnTo>
                    <a:pt x="6486525" y="2062099"/>
                  </a:lnTo>
                  <a:lnTo>
                    <a:pt x="6486525" y="109600"/>
                  </a:lnTo>
                  <a:lnTo>
                    <a:pt x="6477918" y="66919"/>
                  </a:lnTo>
                  <a:lnTo>
                    <a:pt x="6454441" y="32083"/>
                  </a:lnTo>
                  <a:lnTo>
                    <a:pt x="6419605" y="8606"/>
                  </a:lnTo>
                  <a:lnTo>
                    <a:pt x="6376924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900" y="5076824"/>
              <a:ext cx="6486525" cy="609600"/>
            </a:xfrm>
            <a:custGeom>
              <a:avLst/>
              <a:gdLst/>
              <a:ahLst/>
              <a:cxnLst/>
              <a:rect l="l" t="t" r="r" b="b"/>
              <a:pathLst>
                <a:path w="6486525" h="609600">
                  <a:moveTo>
                    <a:pt x="6486525" y="314706"/>
                  </a:moveTo>
                  <a:lnTo>
                    <a:pt x="6484239" y="303441"/>
                  </a:lnTo>
                  <a:lnTo>
                    <a:pt x="6478041" y="294233"/>
                  </a:lnTo>
                  <a:lnTo>
                    <a:pt x="6468834" y="288036"/>
                  </a:lnTo>
                  <a:lnTo>
                    <a:pt x="6457569" y="285750"/>
                  </a:lnTo>
                  <a:lnTo>
                    <a:pt x="3551275" y="285750"/>
                  </a:lnTo>
                  <a:lnTo>
                    <a:pt x="3548824" y="255384"/>
                  </a:lnTo>
                  <a:lnTo>
                    <a:pt x="3537267" y="208483"/>
                  </a:lnTo>
                  <a:lnTo>
                    <a:pt x="3518789" y="164757"/>
                  </a:lnTo>
                  <a:lnTo>
                    <a:pt x="3493986" y="124815"/>
                  </a:lnTo>
                  <a:lnTo>
                    <a:pt x="3463518" y="89306"/>
                  </a:lnTo>
                  <a:lnTo>
                    <a:pt x="3428009" y="58826"/>
                  </a:lnTo>
                  <a:lnTo>
                    <a:pt x="3388068" y="34036"/>
                  </a:lnTo>
                  <a:lnTo>
                    <a:pt x="3344341" y="15557"/>
                  </a:lnTo>
                  <a:lnTo>
                    <a:pt x="3297440" y="4000"/>
                  </a:lnTo>
                  <a:lnTo>
                    <a:pt x="3248025" y="0"/>
                  </a:lnTo>
                  <a:lnTo>
                    <a:pt x="3238500" y="0"/>
                  </a:lnTo>
                  <a:lnTo>
                    <a:pt x="3189071" y="4000"/>
                  </a:lnTo>
                  <a:lnTo>
                    <a:pt x="3142170" y="15557"/>
                  </a:lnTo>
                  <a:lnTo>
                    <a:pt x="3098444" y="34036"/>
                  </a:lnTo>
                  <a:lnTo>
                    <a:pt x="3058515" y="58826"/>
                  </a:lnTo>
                  <a:lnTo>
                    <a:pt x="3022993" y="89306"/>
                  </a:lnTo>
                  <a:lnTo>
                    <a:pt x="2992526" y="124815"/>
                  </a:lnTo>
                  <a:lnTo>
                    <a:pt x="2967723" y="164757"/>
                  </a:lnTo>
                  <a:lnTo>
                    <a:pt x="2949244" y="208483"/>
                  </a:lnTo>
                  <a:lnTo>
                    <a:pt x="2937687" y="255384"/>
                  </a:lnTo>
                  <a:lnTo>
                    <a:pt x="2935236" y="285750"/>
                  </a:lnTo>
                  <a:lnTo>
                    <a:pt x="28917" y="285750"/>
                  </a:lnTo>
                  <a:lnTo>
                    <a:pt x="17653" y="288036"/>
                  </a:lnTo>
                  <a:lnTo>
                    <a:pt x="8458" y="294233"/>
                  </a:lnTo>
                  <a:lnTo>
                    <a:pt x="2260" y="303441"/>
                  </a:lnTo>
                  <a:lnTo>
                    <a:pt x="0" y="314706"/>
                  </a:lnTo>
                  <a:lnTo>
                    <a:pt x="0" y="342519"/>
                  </a:lnTo>
                  <a:lnTo>
                    <a:pt x="2260" y="353796"/>
                  </a:lnTo>
                  <a:lnTo>
                    <a:pt x="8458" y="363004"/>
                  </a:lnTo>
                  <a:lnTo>
                    <a:pt x="17653" y="369201"/>
                  </a:lnTo>
                  <a:lnTo>
                    <a:pt x="28917" y="371475"/>
                  </a:lnTo>
                  <a:lnTo>
                    <a:pt x="2941929" y="371475"/>
                  </a:lnTo>
                  <a:lnTo>
                    <a:pt x="2949244" y="401129"/>
                  </a:lnTo>
                  <a:lnTo>
                    <a:pt x="2967723" y="444855"/>
                  </a:lnTo>
                  <a:lnTo>
                    <a:pt x="2992526" y="484797"/>
                  </a:lnTo>
                  <a:lnTo>
                    <a:pt x="3022993" y="520306"/>
                  </a:lnTo>
                  <a:lnTo>
                    <a:pt x="3058515" y="550786"/>
                  </a:lnTo>
                  <a:lnTo>
                    <a:pt x="3098444" y="575576"/>
                  </a:lnTo>
                  <a:lnTo>
                    <a:pt x="3142183" y="594055"/>
                  </a:lnTo>
                  <a:lnTo>
                    <a:pt x="3189071" y="605612"/>
                  </a:lnTo>
                  <a:lnTo>
                    <a:pt x="3238500" y="609600"/>
                  </a:lnTo>
                  <a:lnTo>
                    <a:pt x="3248025" y="609600"/>
                  </a:lnTo>
                  <a:lnTo>
                    <a:pt x="3297440" y="605612"/>
                  </a:lnTo>
                  <a:lnTo>
                    <a:pt x="3344329" y="594055"/>
                  </a:lnTo>
                  <a:lnTo>
                    <a:pt x="3388068" y="575576"/>
                  </a:lnTo>
                  <a:lnTo>
                    <a:pt x="3427996" y="550786"/>
                  </a:lnTo>
                  <a:lnTo>
                    <a:pt x="3463518" y="520306"/>
                  </a:lnTo>
                  <a:lnTo>
                    <a:pt x="3493998" y="484797"/>
                  </a:lnTo>
                  <a:lnTo>
                    <a:pt x="3518789" y="444855"/>
                  </a:lnTo>
                  <a:lnTo>
                    <a:pt x="3537280" y="401129"/>
                  </a:lnTo>
                  <a:lnTo>
                    <a:pt x="3544570" y="371475"/>
                  </a:lnTo>
                  <a:lnTo>
                    <a:pt x="6457569" y="371475"/>
                  </a:lnTo>
                  <a:lnTo>
                    <a:pt x="6468834" y="369201"/>
                  </a:lnTo>
                  <a:lnTo>
                    <a:pt x="6478041" y="363004"/>
                  </a:lnTo>
                  <a:lnTo>
                    <a:pt x="6484239" y="353796"/>
                  </a:lnTo>
                  <a:lnTo>
                    <a:pt x="6486525" y="342519"/>
                  </a:lnTo>
                  <a:lnTo>
                    <a:pt x="6486525" y="314706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32225" y="5278056"/>
            <a:ext cx="1466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50" dirty="0">
                <a:latin typeface="Calibri"/>
                <a:cs typeface="Calibri"/>
              </a:rPr>
              <a:t>4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5989" y="5870892"/>
            <a:ext cx="5755005" cy="14357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Algorithm</a:t>
            </a:r>
            <a:r>
              <a:rPr sz="2000" b="1" spc="-1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Development</a:t>
            </a:r>
            <a:r>
              <a:rPr sz="2000" b="1" spc="-3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&amp;</a:t>
            </a:r>
            <a:r>
              <a:rPr sz="2000" b="1" spc="-2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Anomaly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Detection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39200"/>
              </a:lnSpc>
              <a:spcBef>
                <a:spcPts val="900"/>
              </a:spcBef>
            </a:pP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Employ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advanced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algorithms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5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process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sensor</a:t>
            </a:r>
            <a:r>
              <a:rPr sz="15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sz="1550" spc="120" dirty="0">
                <a:solidFill>
                  <a:srgbClr val="C2C4B5"/>
                </a:solidFill>
                <a:latin typeface="Cambria"/>
                <a:cs typeface="Cambria"/>
              </a:rPr>
              <a:t>enhanced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accuracy</a:t>
            </a:r>
            <a:r>
              <a:rPr sz="15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20" dirty="0">
                <a:solidFill>
                  <a:srgbClr val="C2C4B5"/>
                </a:solidFill>
                <a:latin typeface="Cambria"/>
                <a:cs typeface="Cambria"/>
              </a:rPr>
              <a:t>implement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features</a:t>
            </a:r>
            <a:r>
              <a:rPr sz="15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0" dirty="0">
                <a:solidFill>
                  <a:srgbClr val="C2C4B5"/>
                </a:solidFill>
                <a:latin typeface="Cambria"/>
                <a:cs typeface="Cambria"/>
              </a:rPr>
              <a:t>like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early</a:t>
            </a:r>
            <a:r>
              <a:rPr sz="15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health </a:t>
            </a: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anomaly</a:t>
            </a:r>
            <a:r>
              <a:rPr sz="15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detection.</a:t>
            </a:r>
            <a:endParaRPr sz="155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419975" y="5076825"/>
            <a:ext cx="6486525" cy="2476500"/>
            <a:chOff x="7419975" y="5076825"/>
            <a:chExt cx="6486525" cy="2476500"/>
          </a:xfrm>
        </p:grpSpPr>
        <p:sp>
          <p:nvSpPr>
            <p:cNvPr id="25" name="object 25"/>
            <p:cNvSpPr/>
            <p:nvPr/>
          </p:nvSpPr>
          <p:spPr>
            <a:xfrm>
              <a:off x="7419975" y="5381625"/>
              <a:ext cx="6486525" cy="2171700"/>
            </a:xfrm>
            <a:custGeom>
              <a:avLst/>
              <a:gdLst/>
              <a:ahLst/>
              <a:cxnLst/>
              <a:rect l="l" t="t" r="r" b="b"/>
              <a:pathLst>
                <a:path w="6486525" h="2171700">
                  <a:moveTo>
                    <a:pt x="6376923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2062099"/>
                  </a:lnTo>
                  <a:lnTo>
                    <a:pt x="8606" y="2104759"/>
                  </a:lnTo>
                  <a:lnTo>
                    <a:pt x="32083" y="2139597"/>
                  </a:lnTo>
                  <a:lnTo>
                    <a:pt x="66919" y="2163086"/>
                  </a:lnTo>
                  <a:lnTo>
                    <a:pt x="109600" y="2171700"/>
                  </a:lnTo>
                  <a:lnTo>
                    <a:pt x="6376923" y="2171700"/>
                  </a:lnTo>
                  <a:lnTo>
                    <a:pt x="6419605" y="2163086"/>
                  </a:lnTo>
                  <a:lnTo>
                    <a:pt x="6454441" y="2139597"/>
                  </a:lnTo>
                  <a:lnTo>
                    <a:pt x="6477918" y="2104759"/>
                  </a:lnTo>
                  <a:lnTo>
                    <a:pt x="6486525" y="2062099"/>
                  </a:lnTo>
                  <a:lnTo>
                    <a:pt x="6486525" y="109600"/>
                  </a:lnTo>
                  <a:lnTo>
                    <a:pt x="6477918" y="66919"/>
                  </a:lnTo>
                  <a:lnTo>
                    <a:pt x="6454441" y="32083"/>
                  </a:lnTo>
                  <a:lnTo>
                    <a:pt x="6419605" y="8606"/>
                  </a:lnTo>
                  <a:lnTo>
                    <a:pt x="6376923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19975" y="5076824"/>
              <a:ext cx="6486525" cy="609600"/>
            </a:xfrm>
            <a:custGeom>
              <a:avLst/>
              <a:gdLst/>
              <a:ahLst/>
              <a:cxnLst/>
              <a:rect l="l" t="t" r="r" b="b"/>
              <a:pathLst>
                <a:path w="6486525" h="609600">
                  <a:moveTo>
                    <a:pt x="6486525" y="314706"/>
                  </a:moveTo>
                  <a:lnTo>
                    <a:pt x="6484239" y="303441"/>
                  </a:lnTo>
                  <a:lnTo>
                    <a:pt x="6478041" y="294233"/>
                  </a:lnTo>
                  <a:lnTo>
                    <a:pt x="6468834" y="288036"/>
                  </a:lnTo>
                  <a:lnTo>
                    <a:pt x="6457569" y="285750"/>
                  </a:lnTo>
                  <a:lnTo>
                    <a:pt x="3551275" y="285750"/>
                  </a:lnTo>
                  <a:lnTo>
                    <a:pt x="3548824" y="255384"/>
                  </a:lnTo>
                  <a:lnTo>
                    <a:pt x="3537280" y="208483"/>
                  </a:lnTo>
                  <a:lnTo>
                    <a:pt x="3518789" y="164757"/>
                  </a:lnTo>
                  <a:lnTo>
                    <a:pt x="3493998" y="124815"/>
                  </a:lnTo>
                  <a:lnTo>
                    <a:pt x="3463518" y="89306"/>
                  </a:lnTo>
                  <a:lnTo>
                    <a:pt x="3428009" y="58826"/>
                  </a:lnTo>
                  <a:lnTo>
                    <a:pt x="3388068" y="34036"/>
                  </a:lnTo>
                  <a:lnTo>
                    <a:pt x="3344341" y="15557"/>
                  </a:lnTo>
                  <a:lnTo>
                    <a:pt x="3297440" y="4000"/>
                  </a:lnTo>
                  <a:lnTo>
                    <a:pt x="3248025" y="0"/>
                  </a:lnTo>
                  <a:lnTo>
                    <a:pt x="3238500" y="0"/>
                  </a:lnTo>
                  <a:lnTo>
                    <a:pt x="3189071" y="4000"/>
                  </a:lnTo>
                  <a:lnTo>
                    <a:pt x="3142183" y="15557"/>
                  </a:lnTo>
                  <a:lnTo>
                    <a:pt x="3098444" y="34036"/>
                  </a:lnTo>
                  <a:lnTo>
                    <a:pt x="3058515" y="58826"/>
                  </a:lnTo>
                  <a:lnTo>
                    <a:pt x="3022993" y="89306"/>
                  </a:lnTo>
                  <a:lnTo>
                    <a:pt x="2992526" y="124815"/>
                  </a:lnTo>
                  <a:lnTo>
                    <a:pt x="2967723" y="164757"/>
                  </a:lnTo>
                  <a:lnTo>
                    <a:pt x="2949244" y="208483"/>
                  </a:lnTo>
                  <a:lnTo>
                    <a:pt x="2937687" y="255384"/>
                  </a:lnTo>
                  <a:lnTo>
                    <a:pt x="2935236" y="285750"/>
                  </a:lnTo>
                  <a:lnTo>
                    <a:pt x="28956" y="285750"/>
                  </a:lnTo>
                  <a:lnTo>
                    <a:pt x="17678" y="288036"/>
                  </a:lnTo>
                  <a:lnTo>
                    <a:pt x="8470" y="294233"/>
                  </a:lnTo>
                  <a:lnTo>
                    <a:pt x="2273" y="303441"/>
                  </a:lnTo>
                  <a:lnTo>
                    <a:pt x="0" y="314706"/>
                  </a:lnTo>
                  <a:lnTo>
                    <a:pt x="0" y="342519"/>
                  </a:lnTo>
                  <a:lnTo>
                    <a:pt x="2273" y="353796"/>
                  </a:lnTo>
                  <a:lnTo>
                    <a:pt x="8470" y="363004"/>
                  </a:lnTo>
                  <a:lnTo>
                    <a:pt x="17678" y="369201"/>
                  </a:lnTo>
                  <a:lnTo>
                    <a:pt x="28956" y="371475"/>
                  </a:lnTo>
                  <a:lnTo>
                    <a:pt x="2941929" y="371475"/>
                  </a:lnTo>
                  <a:lnTo>
                    <a:pt x="2949232" y="401129"/>
                  </a:lnTo>
                  <a:lnTo>
                    <a:pt x="2967723" y="444855"/>
                  </a:lnTo>
                  <a:lnTo>
                    <a:pt x="2992526" y="484797"/>
                  </a:lnTo>
                  <a:lnTo>
                    <a:pt x="3022993" y="520306"/>
                  </a:lnTo>
                  <a:lnTo>
                    <a:pt x="3058515" y="550786"/>
                  </a:lnTo>
                  <a:lnTo>
                    <a:pt x="3098444" y="575576"/>
                  </a:lnTo>
                  <a:lnTo>
                    <a:pt x="3142183" y="594055"/>
                  </a:lnTo>
                  <a:lnTo>
                    <a:pt x="3189071" y="605612"/>
                  </a:lnTo>
                  <a:lnTo>
                    <a:pt x="3238500" y="609600"/>
                  </a:lnTo>
                  <a:lnTo>
                    <a:pt x="3248025" y="609600"/>
                  </a:lnTo>
                  <a:lnTo>
                    <a:pt x="3297440" y="605612"/>
                  </a:lnTo>
                  <a:lnTo>
                    <a:pt x="3344329" y="594055"/>
                  </a:lnTo>
                  <a:lnTo>
                    <a:pt x="3388068" y="575576"/>
                  </a:lnTo>
                  <a:lnTo>
                    <a:pt x="3427996" y="550786"/>
                  </a:lnTo>
                  <a:lnTo>
                    <a:pt x="3463518" y="520306"/>
                  </a:lnTo>
                  <a:lnTo>
                    <a:pt x="3493986" y="484797"/>
                  </a:lnTo>
                  <a:lnTo>
                    <a:pt x="3518789" y="444855"/>
                  </a:lnTo>
                  <a:lnTo>
                    <a:pt x="3537280" y="401129"/>
                  </a:lnTo>
                  <a:lnTo>
                    <a:pt x="3544570" y="371475"/>
                  </a:lnTo>
                  <a:lnTo>
                    <a:pt x="6457569" y="371475"/>
                  </a:lnTo>
                  <a:lnTo>
                    <a:pt x="6468834" y="369201"/>
                  </a:lnTo>
                  <a:lnTo>
                    <a:pt x="6478041" y="363004"/>
                  </a:lnTo>
                  <a:lnTo>
                    <a:pt x="6484239" y="353796"/>
                  </a:lnTo>
                  <a:lnTo>
                    <a:pt x="6486525" y="342519"/>
                  </a:lnTo>
                  <a:lnTo>
                    <a:pt x="6486525" y="314706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535031" y="5278056"/>
            <a:ext cx="14668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-50" dirty="0">
                <a:latin typeface="Calibri"/>
                <a:cs typeface="Calibri"/>
              </a:rPr>
              <a:t>5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38668" y="5870892"/>
            <a:ext cx="5983605" cy="14357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User-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Centric</a:t>
            </a:r>
            <a:r>
              <a:rPr sz="2000" b="1" spc="-5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Design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39200"/>
              </a:lnSpc>
              <a:spcBef>
                <a:spcPts val="900"/>
              </a:spcBef>
            </a:pP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Create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30" dirty="0">
                <a:solidFill>
                  <a:srgbClr val="C2C4B5"/>
                </a:solidFill>
                <a:latin typeface="Cambria"/>
                <a:cs typeface="Cambria"/>
              </a:rPr>
              <a:t>user-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centric</a:t>
            </a:r>
            <a:r>
              <a:rPr sz="15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device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5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14" dirty="0">
                <a:solidFill>
                  <a:srgbClr val="C2C4B5"/>
                </a:solidFill>
                <a:latin typeface="Cambria"/>
                <a:cs typeface="Cambria"/>
              </a:rPr>
              <a:t>paramount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focus</a:t>
            </a:r>
            <a:r>
              <a:rPr sz="15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on</a:t>
            </a:r>
            <a:r>
              <a:rPr sz="15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5" dirty="0">
                <a:solidFill>
                  <a:srgbClr val="C2C4B5"/>
                </a:solidFill>
                <a:latin typeface="Cambria"/>
                <a:cs typeface="Cambria"/>
              </a:rPr>
              <a:t>comfort, </a:t>
            </a:r>
            <a:r>
              <a:rPr sz="1550" spc="105" dirty="0">
                <a:solidFill>
                  <a:srgbClr val="C2C4B5"/>
                </a:solidFill>
                <a:latin typeface="Cambria"/>
                <a:cs typeface="Cambria"/>
              </a:rPr>
              <a:t>extended</a:t>
            </a:r>
            <a:r>
              <a:rPr sz="155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65" dirty="0">
                <a:solidFill>
                  <a:srgbClr val="C2C4B5"/>
                </a:solidFill>
                <a:latin typeface="Cambria"/>
                <a:cs typeface="Cambria"/>
              </a:rPr>
              <a:t>battery</a:t>
            </a:r>
            <a:r>
              <a:rPr sz="15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90" dirty="0">
                <a:solidFill>
                  <a:srgbClr val="C2C4B5"/>
                </a:solidFill>
                <a:latin typeface="Cambria"/>
                <a:cs typeface="Cambria"/>
              </a:rPr>
              <a:t>efficiency,</a:t>
            </a:r>
            <a:r>
              <a:rPr sz="15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0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5" dirty="0">
                <a:solidFill>
                  <a:srgbClr val="C2C4B5"/>
                </a:solidFill>
                <a:latin typeface="Cambria"/>
                <a:cs typeface="Cambria"/>
              </a:rPr>
              <a:t>ironclad</a:t>
            </a:r>
            <a:r>
              <a:rPr sz="155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5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80" dirty="0">
                <a:solidFill>
                  <a:srgbClr val="C2C4B5"/>
                </a:solidFill>
                <a:latin typeface="Cambria"/>
                <a:cs typeface="Cambria"/>
              </a:rPr>
              <a:t>security</a:t>
            </a:r>
            <a:r>
              <a:rPr sz="15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sz="1550" spc="75" dirty="0">
                <a:solidFill>
                  <a:srgbClr val="C2C4B5"/>
                </a:solidFill>
                <a:latin typeface="Cambria"/>
                <a:cs typeface="Cambria"/>
              </a:rPr>
              <a:t>reliable</a:t>
            </a:r>
            <a:r>
              <a:rPr sz="15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114" dirty="0">
                <a:solidFill>
                  <a:srgbClr val="C2C4B5"/>
                </a:solidFill>
                <a:latin typeface="Cambria"/>
                <a:cs typeface="Cambria"/>
              </a:rPr>
              <a:t>long-</a:t>
            </a:r>
            <a:r>
              <a:rPr sz="1550" spc="110" dirty="0">
                <a:solidFill>
                  <a:srgbClr val="C2C4B5"/>
                </a:solidFill>
                <a:latin typeface="Cambria"/>
                <a:cs typeface="Cambria"/>
              </a:rPr>
              <a:t>term</a:t>
            </a:r>
            <a:r>
              <a:rPr sz="155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550" spc="70" dirty="0">
                <a:solidFill>
                  <a:srgbClr val="C2C4B5"/>
                </a:solidFill>
                <a:latin typeface="Cambria"/>
                <a:cs typeface="Cambria"/>
              </a:rPr>
              <a:t>use.</a:t>
            </a:r>
            <a:endParaRPr sz="155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3" grpId="0"/>
      <p:bldP spid="17" grpId="0"/>
      <p:bldP spid="18" grpId="0"/>
      <p:bldP spid="22" grpId="0"/>
      <p:bldP spid="23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684" y="1181099"/>
            <a:ext cx="96380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Foundational</a:t>
            </a:r>
            <a:r>
              <a:rPr spc="-130" dirty="0"/>
              <a:t> </a:t>
            </a:r>
            <a:r>
              <a:rPr dirty="0"/>
              <a:t>Research:</a:t>
            </a:r>
            <a:r>
              <a:rPr spc="-114" dirty="0"/>
              <a:t> </a:t>
            </a:r>
            <a:r>
              <a:rPr dirty="0"/>
              <a:t>Literature</a:t>
            </a:r>
            <a:r>
              <a:rPr spc="-80" dirty="0"/>
              <a:t> </a:t>
            </a:r>
            <a:r>
              <a:rPr spc="-10" dirty="0"/>
              <a:t>Survey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0" y="2370835"/>
            <a:ext cx="4249420" cy="4659630"/>
            <a:chOff x="762000" y="2370835"/>
            <a:chExt cx="4249420" cy="4659630"/>
          </a:xfrm>
        </p:grpSpPr>
        <p:sp>
          <p:nvSpPr>
            <p:cNvPr id="4" name="object 4"/>
            <p:cNvSpPr/>
            <p:nvPr/>
          </p:nvSpPr>
          <p:spPr>
            <a:xfrm>
              <a:off x="795337" y="2386075"/>
              <a:ext cx="4201160" cy="4629150"/>
            </a:xfrm>
            <a:custGeom>
              <a:avLst/>
              <a:gdLst/>
              <a:ahLst/>
              <a:cxnLst/>
              <a:rect l="l" t="t" r="r" b="b"/>
              <a:pathLst>
                <a:path w="4201160" h="4629150">
                  <a:moveTo>
                    <a:pt x="4054157" y="0"/>
                  </a:moveTo>
                  <a:lnTo>
                    <a:pt x="146431" y="0"/>
                  </a:lnTo>
                  <a:lnTo>
                    <a:pt x="100146" y="7461"/>
                  </a:lnTo>
                  <a:lnTo>
                    <a:pt x="59949" y="28236"/>
                  </a:lnTo>
                  <a:lnTo>
                    <a:pt x="28252" y="59911"/>
                  </a:lnTo>
                  <a:lnTo>
                    <a:pt x="7464" y="100071"/>
                  </a:lnTo>
                  <a:lnTo>
                    <a:pt x="0" y="146303"/>
                  </a:lnTo>
                  <a:lnTo>
                    <a:pt x="0" y="4482719"/>
                  </a:lnTo>
                  <a:lnTo>
                    <a:pt x="7464" y="4528957"/>
                  </a:lnTo>
                  <a:lnTo>
                    <a:pt x="28252" y="4569133"/>
                  </a:lnTo>
                  <a:lnTo>
                    <a:pt x="59949" y="4600827"/>
                  </a:lnTo>
                  <a:lnTo>
                    <a:pt x="100146" y="4621618"/>
                  </a:lnTo>
                  <a:lnTo>
                    <a:pt x="146431" y="4629086"/>
                  </a:lnTo>
                  <a:lnTo>
                    <a:pt x="4054157" y="4629086"/>
                  </a:lnTo>
                  <a:lnTo>
                    <a:pt x="4100402" y="4621618"/>
                  </a:lnTo>
                  <a:lnTo>
                    <a:pt x="4140594" y="4600827"/>
                  </a:lnTo>
                  <a:lnTo>
                    <a:pt x="4172307" y="4569133"/>
                  </a:lnTo>
                  <a:lnTo>
                    <a:pt x="4193113" y="4528957"/>
                  </a:lnTo>
                  <a:lnTo>
                    <a:pt x="4200588" y="4482719"/>
                  </a:lnTo>
                  <a:lnTo>
                    <a:pt x="4200588" y="146303"/>
                  </a:lnTo>
                  <a:lnTo>
                    <a:pt x="4193113" y="100071"/>
                  </a:lnTo>
                  <a:lnTo>
                    <a:pt x="4172307" y="59911"/>
                  </a:lnTo>
                  <a:lnTo>
                    <a:pt x="4140594" y="28236"/>
                  </a:lnTo>
                  <a:lnTo>
                    <a:pt x="4100402" y="7461"/>
                  </a:lnTo>
                  <a:lnTo>
                    <a:pt x="4054157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5337" y="2386075"/>
              <a:ext cx="4201160" cy="4629150"/>
            </a:xfrm>
            <a:custGeom>
              <a:avLst/>
              <a:gdLst/>
              <a:ahLst/>
              <a:cxnLst/>
              <a:rect l="l" t="t" r="r" b="b"/>
              <a:pathLst>
                <a:path w="4201160" h="4629150">
                  <a:moveTo>
                    <a:pt x="0" y="146303"/>
                  </a:moveTo>
                  <a:lnTo>
                    <a:pt x="7464" y="100071"/>
                  </a:lnTo>
                  <a:lnTo>
                    <a:pt x="28252" y="59911"/>
                  </a:lnTo>
                  <a:lnTo>
                    <a:pt x="59949" y="28236"/>
                  </a:lnTo>
                  <a:lnTo>
                    <a:pt x="100146" y="7461"/>
                  </a:lnTo>
                  <a:lnTo>
                    <a:pt x="146431" y="0"/>
                  </a:lnTo>
                  <a:lnTo>
                    <a:pt x="4054157" y="0"/>
                  </a:lnTo>
                  <a:lnTo>
                    <a:pt x="4100402" y="7461"/>
                  </a:lnTo>
                  <a:lnTo>
                    <a:pt x="4140594" y="28236"/>
                  </a:lnTo>
                  <a:lnTo>
                    <a:pt x="4172307" y="59911"/>
                  </a:lnTo>
                  <a:lnTo>
                    <a:pt x="4193113" y="100071"/>
                  </a:lnTo>
                  <a:lnTo>
                    <a:pt x="4200588" y="146303"/>
                  </a:lnTo>
                  <a:lnTo>
                    <a:pt x="4200588" y="4482719"/>
                  </a:lnTo>
                  <a:lnTo>
                    <a:pt x="4193113" y="4528957"/>
                  </a:lnTo>
                  <a:lnTo>
                    <a:pt x="4172307" y="4569133"/>
                  </a:lnTo>
                  <a:lnTo>
                    <a:pt x="4140594" y="4600827"/>
                  </a:lnTo>
                  <a:lnTo>
                    <a:pt x="4100402" y="4621618"/>
                  </a:lnTo>
                  <a:lnTo>
                    <a:pt x="4054157" y="4629086"/>
                  </a:lnTo>
                  <a:lnTo>
                    <a:pt x="146431" y="4629086"/>
                  </a:lnTo>
                  <a:lnTo>
                    <a:pt x="100146" y="4621618"/>
                  </a:lnTo>
                  <a:lnTo>
                    <a:pt x="59949" y="4600827"/>
                  </a:lnTo>
                  <a:lnTo>
                    <a:pt x="28252" y="4569133"/>
                  </a:lnTo>
                  <a:lnTo>
                    <a:pt x="7464" y="4528957"/>
                  </a:lnTo>
                  <a:lnTo>
                    <a:pt x="0" y="4482719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5354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000" y="2381249"/>
              <a:ext cx="123825" cy="4629150"/>
            </a:xfrm>
            <a:custGeom>
              <a:avLst/>
              <a:gdLst/>
              <a:ahLst/>
              <a:cxnLst/>
              <a:rect l="l" t="t" r="r" b="b"/>
              <a:pathLst>
                <a:path w="123825" h="4629150">
                  <a:moveTo>
                    <a:pt x="89268" y="0"/>
                  </a:moveTo>
                  <a:lnTo>
                    <a:pt x="34556" y="0"/>
                  </a:lnTo>
                  <a:lnTo>
                    <a:pt x="21104" y="2718"/>
                  </a:lnTo>
                  <a:lnTo>
                    <a:pt x="10120" y="10128"/>
                  </a:lnTo>
                  <a:lnTo>
                    <a:pt x="2715" y="21109"/>
                  </a:lnTo>
                  <a:lnTo>
                    <a:pt x="0" y="34544"/>
                  </a:lnTo>
                  <a:lnTo>
                    <a:pt x="0" y="4594593"/>
                  </a:lnTo>
                  <a:lnTo>
                    <a:pt x="2715" y="4608045"/>
                  </a:lnTo>
                  <a:lnTo>
                    <a:pt x="10120" y="4619029"/>
                  </a:lnTo>
                  <a:lnTo>
                    <a:pt x="21104" y="4626434"/>
                  </a:lnTo>
                  <a:lnTo>
                    <a:pt x="34556" y="4629150"/>
                  </a:lnTo>
                  <a:lnTo>
                    <a:pt x="89268" y="4629150"/>
                  </a:lnTo>
                  <a:lnTo>
                    <a:pt x="102720" y="4626434"/>
                  </a:lnTo>
                  <a:lnTo>
                    <a:pt x="113704" y="4619029"/>
                  </a:lnTo>
                  <a:lnTo>
                    <a:pt x="121109" y="4608045"/>
                  </a:lnTo>
                  <a:lnTo>
                    <a:pt x="123825" y="4594593"/>
                  </a:lnTo>
                  <a:lnTo>
                    <a:pt x="123825" y="34544"/>
                  </a:lnTo>
                  <a:lnTo>
                    <a:pt x="121109" y="21109"/>
                  </a:lnTo>
                  <a:lnTo>
                    <a:pt x="113704" y="10128"/>
                  </a:lnTo>
                  <a:lnTo>
                    <a:pt x="102720" y="2718"/>
                  </a:lnTo>
                  <a:lnTo>
                    <a:pt x="89268" y="0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0617" y="2599880"/>
            <a:ext cx="3458210" cy="4169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314">
              <a:lnSpc>
                <a:spcPct val="107800"/>
              </a:lnSpc>
              <a:spcBef>
                <a:spcPts val="9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High-Accuracy</a:t>
            </a:r>
            <a:r>
              <a:rPr sz="2150" b="1" spc="7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Step</a:t>
            </a:r>
            <a:r>
              <a:rPr sz="2150" b="1" spc="9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Counting Counting</a:t>
            </a:r>
            <a:endParaRPr sz="2150" dirty="0">
              <a:latin typeface="Calibri"/>
              <a:cs typeface="Calibri"/>
            </a:endParaRPr>
          </a:p>
          <a:p>
            <a:pPr marL="12700" marR="5080">
              <a:lnSpc>
                <a:spcPct val="142200"/>
              </a:lnSpc>
              <a:spcBef>
                <a:spcPts val="960"/>
              </a:spcBef>
            </a:pP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spc="55" dirty="0">
                <a:solidFill>
                  <a:srgbClr val="C2C4B5"/>
                </a:solidFill>
                <a:latin typeface="Cambria"/>
                <a:cs typeface="Cambria"/>
              </a:rPr>
              <a:t>Bosch</a:t>
            </a:r>
            <a:r>
              <a:rPr sz="1700" b="1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spc="55" dirty="0">
                <a:solidFill>
                  <a:srgbClr val="C2C4B5"/>
                </a:solidFill>
                <a:latin typeface="Cambria"/>
                <a:cs typeface="Cambria"/>
              </a:rPr>
              <a:t>Sensortec</a:t>
            </a:r>
            <a:r>
              <a:rPr sz="1700" b="1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C2C4B5"/>
                </a:solidFill>
                <a:latin typeface="Cambria"/>
                <a:cs typeface="Cambria"/>
              </a:rPr>
              <a:t>BMA456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accelerometer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sz="170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widely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adopted in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commercial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smartwatches</a:t>
            </a:r>
            <a:r>
              <a:rPr sz="170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its</a:t>
            </a:r>
            <a:r>
              <a:rPr sz="170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precision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ultra-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low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power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consumption.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5" dirty="0">
                <a:solidFill>
                  <a:srgbClr val="C2C4B5"/>
                </a:solidFill>
                <a:latin typeface="Cambria"/>
                <a:cs typeface="Cambria"/>
              </a:rPr>
              <a:t>makes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it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an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ideal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choice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continuous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activity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tracking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without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significant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battery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drain,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crucial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our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design.</a:t>
            </a:r>
            <a:endParaRPr sz="1700" dirty="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91125" y="2370835"/>
            <a:ext cx="4239895" cy="4659630"/>
            <a:chOff x="5191125" y="2370835"/>
            <a:chExt cx="4239895" cy="4659630"/>
          </a:xfrm>
        </p:grpSpPr>
        <p:sp>
          <p:nvSpPr>
            <p:cNvPr id="9" name="object 9"/>
            <p:cNvSpPr/>
            <p:nvPr/>
          </p:nvSpPr>
          <p:spPr>
            <a:xfrm>
              <a:off x="5224526" y="2386075"/>
              <a:ext cx="4191000" cy="4629150"/>
            </a:xfrm>
            <a:custGeom>
              <a:avLst/>
              <a:gdLst/>
              <a:ahLst/>
              <a:cxnLst/>
              <a:rect l="l" t="t" r="r" b="b"/>
              <a:pathLst>
                <a:path w="4191000" h="4629150">
                  <a:moveTo>
                    <a:pt x="4044823" y="0"/>
                  </a:moveTo>
                  <a:lnTo>
                    <a:pt x="146050" y="0"/>
                  </a:lnTo>
                  <a:lnTo>
                    <a:pt x="99893" y="7447"/>
                  </a:lnTo>
                  <a:lnTo>
                    <a:pt x="59801" y="28183"/>
                  </a:lnTo>
                  <a:lnTo>
                    <a:pt x="28183" y="59801"/>
                  </a:lnTo>
                  <a:lnTo>
                    <a:pt x="7447" y="99893"/>
                  </a:lnTo>
                  <a:lnTo>
                    <a:pt x="0" y="146050"/>
                  </a:lnTo>
                  <a:lnTo>
                    <a:pt x="0" y="4482973"/>
                  </a:lnTo>
                  <a:lnTo>
                    <a:pt x="7447" y="4529136"/>
                  </a:lnTo>
                  <a:lnTo>
                    <a:pt x="28183" y="4569243"/>
                  </a:lnTo>
                  <a:lnTo>
                    <a:pt x="59801" y="4600880"/>
                  </a:lnTo>
                  <a:lnTo>
                    <a:pt x="99893" y="4621632"/>
                  </a:lnTo>
                  <a:lnTo>
                    <a:pt x="146050" y="4629086"/>
                  </a:lnTo>
                  <a:lnTo>
                    <a:pt x="4044823" y="4629086"/>
                  </a:lnTo>
                  <a:lnTo>
                    <a:pt x="4090993" y="4621632"/>
                  </a:lnTo>
                  <a:lnTo>
                    <a:pt x="4131115" y="4600880"/>
                  </a:lnTo>
                  <a:lnTo>
                    <a:pt x="4162771" y="4569243"/>
                  </a:lnTo>
                  <a:lnTo>
                    <a:pt x="4183539" y="4529136"/>
                  </a:lnTo>
                  <a:lnTo>
                    <a:pt x="4191000" y="4482973"/>
                  </a:lnTo>
                  <a:lnTo>
                    <a:pt x="4191000" y="146050"/>
                  </a:lnTo>
                  <a:lnTo>
                    <a:pt x="4183539" y="99893"/>
                  </a:lnTo>
                  <a:lnTo>
                    <a:pt x="4162771" y="59801"/>
                  </a:lnTo>
                  <a:lnTo>
                    <a:pt x="4131115" y="28183"/>
                  </a:lnTo>
                  <a:lnTo>
                    <a:pt x="4090993" y="7447"/>
                  </a:lnTo>
                  <a:lnTo>
                    <a:pt x="4044823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24526" y="2386075"/>
              <a:ext cx="4191000" cy="4629150"/>
            </a:xfrm>
            <a:custGeom>
              <a:avLst/>
              <a:gdLst/>
              <a:ahLst/>
              <a:cxnLst/>
              <a:rect l="l" t="t" r="r" b="b"/>
              <a:pathLst>
                <a:path w="4191000" h="4629150">
                  <a:moveTo>
                    <a:pt x="0" y="146050"/>
                  </a:moveTo>
                  <a:lnTo>
                    <a:pt x="7447" y="99893"/>
                  </a:lnTo>
                  <a:lnTo>
                    <a:pt x="28183" y="59801"/>
                  </a:lnTo>
                  <a:lnTo>
                    <a:pt x="59801" y="28183"/>
                  </a:lnTo>
                  <a:lnTo>
                    <a:pt x="99893" y="7447"/>
                  </a:lnTo>
                  <a:lnTo>
                    <a:pt x="146050" y="0"/>
                  </a:lnTo>
                  <a:lnTo>
                    <a:pt x="4044823" y="0"/>
                  </a:lnTo>
                  <a:lnTo>
                    <a:pt x="4090993" y="7447"/>
                  </a:lnTo>
                  <a:lnTo>
                    <a:pt x="4131115" y="28183"/>
                  </a:lnTo>
                  <a:lnTo>
                    <a:pt x="4162771" y="59801"/>
                  </a:lnTo>
                  <a:lnTo>
                    <a:pt x="4183539" y="99893"/>
                  </a:lnTo>
                  <a:lnTo>
                    <a:pt x="4191000" y="146050"/>
                  </a:lnTo>
                  <a:lnTo>
                    <a:pt x="4191000" y="4482973"/>
                  </a:lnTo>
                  <a:lnTo>
                    <a:pt x="4183539" y="4529136"/>
                  </a:lnTo>
                  <a:lnTo>
                    <a:pt x="4162771" y="4569243"/>
                  </a:lnTo>
                  <a:lnTo>
                    <a:pt x="4131115" y="4600880"/>
                  </a:lnTo>
                  <a:lnTo>
                    <a:pt x="4090993" y="4621632"/>
                  </a:lnTo>
                  <a:lnTo>
                    <a:pt x="4044823" y="4629086"/>
                  </a:lnTo>
                  <a:lnTo>
                    <a:pt x="146050" y="4629086"/>
                  </a:lnTo>
                  <a:lnTo>
                    <a:pt x="99893" y="4621632"/>
                  </a:lnTo>
                  <a:lnTo>
                    <a:pt x="59801" y="4600880"/>
                  </a:lnTo>
                  <a:lnTo>
                    <a:pt x="28183" y="4569243"/>
                  </a:lnTo>
                  <a:lnTo>
                    <a:pt x="7447" y="4529136"/>
                  </a:lnTo>
                  <a:lnTo>
                    <a:pt x="0" y="4482973"/>
                  </a:lnTo>
                  <a:lnTo>
                    <a:pt x="0" y="146050"/>
                  </a:lnTo>
                  <a:close/>
                </a:path>
              </a:pathLst>
            </a:custGeom>
            <a:ln w="30480">
              <a:solidFill>
                <a:srgbClr val="5354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91125" y="2381249"/>
              <a:ext cx="114300" cy="4629150"/>
            </a:xfrm>
            <a:custGeom>
              <a:avLst/>
              <a:gdLst/>
              <a:ahLst/>
              <a:cxnLst/>
              <a:rect l="l" t="t" r="r" b="b"/>
              <a:pathLst>
                <a:path w="114300" h="4629150">
                  <a:moveTo>
                    <a:pt x="82423" y="0"/>
                  </a:moveTo>
                  <a:lnTo>
                    <a:pt x="31876" y="0"/>
                  </a:lnTo>
                  <a:lnTo>
                    <a:pt x="19448" y="2498"/>
                  </a:lnTo>
                  <a:lnTo>
                    <a:pt x="9318" y="9318"/>
                  </a:lnTo>
                  <a:lnTo>
                    <a:pt x="2498" y="19448"/>
                  </a:lnTo>
                  <a:lnTo>
                    <a:pt x="0" y="31876"/>
                  </a:lnTo>
                  <a:lnTo>
                    <a:pt x="0" y="4597247"/>
                  </a:lnTo>
                  <a:lnTo>
                    <a:pt x="2498" y="4609663"/>
                  </a:lnTo>
                  <a:lnTo>
                    <a:pt x="9318" y="4619804"/>
                  </a:lnTo>
                  <a:lnTo>
                    <a:pt x="19448" y="4626642"/>
                  </a:lnTo>
                  <a:lnTo>
                    <a:pt x="31876" y="4629150"/>
                  </a:lnTo>
                  <a:lnTo>
                    <a:pt x="82423" y="4629150"/>
                  </a:lnTo>
                  <a:lnTo>
                    <a:pt x="94851" y="4626642"/>
                  </a:lnTo>
                  <a:lnTo>
                    <a:pt x="104981" y="4619804"/>
                  </a:lnTo>
                  <a:lnTo>
                    <a:pt x="111801" y="4609663"/>
                  </a:lnTo>
                  <a:lnTo>
                    <a:pt x="114300" y="4597247"/>
                  </a:lnTo>
                  <a:lnTo>
                    <a:pt x="114300" y="31876"/>
                  </a:lnTo>
                  <a:lnTo>
                    <a:pt x="111801" y="19448"/>
                  </a:lnTo>
                  <a:lnTo>
                    <a:pt x="104981" y="9318"/>
                  </a:lnTo>
                  <a:lnTo>
                    <a:pt x="94851" y="2498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56503" y="2599880"/>
            <a:ext cx="3540125" cy="3807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88390">
              <a:lnSpc>
                <a:spcPct val="107800"/>
              </a:lnSpc>
              <a:spcBef>
                <a:spcPts val="9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Wireless</a:t>
            </a:r>
            <a:r>
              <a:rPr sz="2150" b="1" spc="7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Health</a:t>
            </a:r>
            <a:r>
              <a:rPr sz="2150" b="1" spc="8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20" dirty="0">
                <a:solidFill>
                  <a:srgbClr val="C2C4B5"/>
                </a:solidFill>
                <a:latin typeface="Calibri"/>
                <a:cs typeface="Calibri"/>
              </a:rPr>
              <a:t>Data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Transmission</a:t>
            </a:r>
            <a:endParaRPr sz="2150" dirty="0">
              <a:latin typeface="Calibri"/>
              <a:cs typeface="Calibri"/>
            </a:endParaRPr>
          </a:p>
          <a:p>
            <a:pPr marL="12700" marR="5080">
              <a:lnSpc>
                <a:spcPct val="142500"/>
              </a:lnSpc>
              <a:spcBef>
                <a:spcPts val="955"/>
              </a:spcBef>
            </a:pP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Bluetooth</a:t>
            </a:r>
            <a:r>
              <a:rPr sz="1700" b="1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spc="50" dirty="0">
                <a:solidFill>
                  <a:srgbClr val="C2C4B5"/>
                </a:solidFill>
                <a:latin typeface="Cambria"/>
                <a:cs typeface="Cambria"/>
              </a:rPr>
              <a:t>modules</a:t>
            </a:r>
            <a:r>
              <a:rPr sz="1700" b="1" spc="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like</a:t>
            </a:r>
            <a:r>
              <a:rPr sz="1700" b="1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b="1" spc="114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spc="185" dirty="0">
                <a:solidFill>
                  <a:srgbClr val="C2C4B5"/>
                </a:solidFill>
                <a:latin typeface="Cambria"/>
                <a:cs typeface="Cambria"/>
              </a:rPr>
              <a:t>HC-</a:t>
            </a:r>
            <a:r>
              <a:rPr sz="1700" b="1" spc="-35" dirty="0">
                <a:solidFill>
                  <a:srgbClr val="C2C4B5"/>
                </a:solidFill>
                <a:latin typeface="Cambria"/>
                <a:cs typeface="Cambria"/>
              </a:rPr>
              <a:t>05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are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industry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standards</a:t>
            </a:r>
            <a:r>
              <a:rPr sz="170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in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wearables</a:t>
            </a:r>
            <a:r>
              <a:rPr sz="1700" spc="-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transmitting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health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smartphones.</a:t>
            </a:r>
            <a:r>
              <a:rPr sz="170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Their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cost-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effectiveness</a:t>
            </a:r>
            <a:r>
              <a:rPr sz="1700" spc="-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ease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of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integration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facilitate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time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feedback,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core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feature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our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system.</a:t>
            </a:r>
            <a:endParaRPr sz="1700" dirty="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610725" y="2370835"/>
            <a:ext cx="4249420" cy="4659630"/>
            <a:chOff x="9610725" y="2370835"/>
            <a:chExt cx="4249420" cy="4659630"/>
          </a:xfrm>
        </p:grpSpPr>
        <p:sp>
          <p:nvSpPr>
            <p:cNvPr id="14" name="object 14"/>
            <p:cNvSpPr/>
            <p:nvPr/>
          </p:nvSpPr>
          <p:spPr>
            <a:xfrm>
              <a:off x="9644126" y="2386075"/>
              <a:ext cx="4200525" cy="4629150"/>
            </a:xfrm>
            <a:custGeom>
              <a:avLst/>
              <a:gdLst/>
              <a:ahLst/>
              <a:cxnLst/>
              <a:rect l="l" t="t" r="r" b="b"/>
              <a:pathLst>
                <a:path w="4200525" h="4629150">
                  <a:moveTo>
                    <a:pt x="4054093" y="0"/>
                  </a:moveTo>
                  <a:lnTo>
                    <a:pt x="146303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0" y="4482719"/>
                  </a:lnTo>
                  <a:lnTo>
                    <a:pt x="7461" y="4528957"/>
                  </a:lnTo>
                  <a:lnTo>
                    <a:pt x="28236" y="4569133"/>
                  </a:lnTo>
                  <a:lnTo>
                    <a:pt x="59911" y="4600827"/>
                  </a:lnTo>
                  <a:lnTo>
                    <a:pt x="100071" y="4621618"/>
                  </a:lnTo>
                  <a:lnTo>
                    <a:pt x="146303" y="4629086"/>
                  </a:lnTo>
                  <a:lnTo>
                    <a:pt x="4054093" y="4629086"/>
                  </a:lnTo>
                  <a:lnTo>
                    <a:pt x="4100339" y="4621618"/>
                  </a:lnTo>
                  <a:lnTo>
                    <a:pt x="4140531" y="4600827"/>
                  </a:lnTo>
                  <a:lnTo>
                    <a:pt x="4172243" y="4569133"/>
                  </a:lnTo>
                  <a:lnTo>
                    <a:pt x="4193050" y="4528957"/>
                  </a:lnTo>
                  <a:lnTo>
                    <a:pt x="4200525" y="4482719"/>
                  </a:lnTo>
                  <a:lnTo>
                    <a:pt x="4200525" y="146303"/>
                  </a:lnTo>
                  <a:lnTo>
                    <a:pt x="4193050" y="100071"/>
                  </a:lnTo>
                  <a:lnTo>
                    <a:pt x="4172243" y="59911"/>
                  </a:lnTo>
                  <a:lnTo>
                    <a:pt x="4140531" y="28236"/>
                  </a:lnTo>
                  <a:lnTo>
                    <a:pt x="4100339" y="7461"/>
                  </a:lnTo>
                  <a:lnTo>
                    <a:pt x="4054093" y="0"/>
                  </a:lnTo>
                  <a:close/>
                </a:path>
              </a:pathLst>
            </a:custGeom>
            <a:solidFill>
              <a:srgbClr val="1C1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44126" y="2386075"/>
              <a:ext cx="4200525" cy="4629150"/>
            </a:xfrm>
            <a:custGeom>
              <a:avLst/>
              <a:gdLst/>
              <a:ahLst/>
              <a:cxnLst/>
              <a:rect l="l" t="t" r="r" b="b"/>
              <a:pathLst>
                <a:path w="4200525" h="4629150">
                  <a:moveTo>
                    <a:pt x="0" y="146303"/>
                  </a:moveTo>
                  <a:lnTo>
                    <a:pt x="7461" y="100071"/>
                  </a:lnTo>
                  <a:lnTo>
                    <a:pt x="28236" y="59911"/>
                  </a:lnTo>
                  <a:lnTo>
                    <a:pt x="59911" y="28236"/>
                  </a:lnTo>
                  <a:lnTo>
                    <a:pt x="100071" y="7461"/>
                  </a:lnTo>
                  <a:lnTo>
                    <a:pt x="146303" y="0"/>
                  </a:lnTo>
                  <a:lnTo>
                    <a:pt x="4054093" y="0"/>
                  </a:lnTo>
                  <a:lnTo>
                    <a:pt x="4100339" y="7461"/>
                  </a:lnTo>
                  <a:lnTo>
                    <a:pt x="4140531" y="28236"/>
                  </a:lnTo>
                  <a:lnTo>
                    <a:pt x="4172243" y="59911"/>
                  </a:lnTo>
                  <a:lnTo>
                    <a:pt x="4193050" y="100071"/>
                  </a:lnTo>
                  <a:lnTo>
                    <a:pt x="4200525" y="146303"/>
                  </a:lnTo>
                  <a:lnTo>
                    <a:pt x="4200525" y="4482719"/>
                  </a:lnTo>
                  <a:lnTo>
                    <a:pt x="4193050" y="4528957"/>
                  </a:lnTo>
                  <a:lnTo>
                    <a:pt x="4172243" y="4569133"/>
                  </a:lnTo>
                  <a:lnTo>
                    <a:pt x="4140531" y="4600827"/>
                  </a:lnTo>
                  <a:lnTo>
                    <a:pt x="4100339" y="4621618"/>
                  </a:lnTo>
                  <a:lnTo>
                    <a:pt x="4054093" y="4629086"/>
                  </a:lnTo>
                  <a:lnTo>
                    <a:pt x="146303" y="4629086"/>
                  </a:lnTo>
                  <a:lnTo>
                    <a:pt x="100071" y="4621618"/>
                  </a:lnTo>
                  <a:lnTo>
                    <a:pt x="59911" y="4600827"/>
                  </a:lnTo>
                  <a:lnTo>
                    <a:pt x="28236" y="4569133"/>
                  </a:lnTo>
                  <a:lnTo>
                    <a:pt x="7461" y="4528957"/>
                  </a:lnTo>
                  <a:lnTo>
                    <a:pt x="0" y="4482719"/>
                  </a:lnTo>
                  <a:lnTo>
                    <a:pt x="0" y="146303"/>
                  </a:lnTo>
                  <a:close/>
                </a:path>
              </a:pathLst>
            </a:custGeom>
            <a:ln w="30480">
              <a:solidFill>
                <a:srgbClr val="5354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10725" y="2381249"/>
              <a:ext cx="123825" cy="4629150"/>
            </a:xfrm>
            <a:custGeom>
              <a:avLst/>
              <a:gdLst/>
              <a:ahLst/>
              <a:cxnLst/>
              <a:rect l="l" t="t" r="r" b="b"/>
              <a:pathLst>
                <a:path w="123825" h="4629150">
                  <a:moveTo>
                    <a:pt x="89280" y="0"/>
                  </a:moveTo>
                  <a:lnTo>
                    <a:pt x="34544" y="0"/>
                  </a:lnTo>
                  <a:lnTo>
                    <a:pt x="21109" y="2718"/>
                  </a:lnTo>
                  <a:lnTo>
                    <a:pt x="10128" y="10128"/>
                  </a:lnTo>
                  <a:lnTo>
                    <a:pt x="2718" y="21109"/>
                  </a:lnTo>
                  <a:lnTo>
                    <a:pt x="0" y="34544"/>
                  </a:lnTo>
                  <a:lnTo>
                    <a:pt x="0" y="4594593"/>
                  </a:lnTo>
                  <a:lnTo>
                    <a:pt x="2718" y="4608045"/>
                  </a:lnTo>
                  <a:lnTo>
                    <a:pt x="10128" y="4619029"/>
                  </a:lnTo>
                  <a:lnTo>
                    <a:pt x="21109" y="4626434"/>
                  </a:lnTo>
                  <a:lnTo>
                    <a:pt x="34544" y="4629150"/>
                  </a:lnTo>
                  <a:lnTo>
                    <a:pt x="89280" y="4629150"/>
                  </a:lnTo>
                  <a:lnTo>
                    <a:pt x="102715" y="4626434"/>
                  </a:lnTo>
                  <a:lnTo>
                    <a:pt x="113696" y="4619029"/>
                  </a:lnTo>
                  <a:lnTo>
                    <a:pt x="121106" y="4608045"/>
                  </a:lnTo>
                  <a:lnTo>
                    <a:pt x="123825" y="4594593"/>
                  </a:lnTo>
                  <a:lnTo>
                    <a:pt x="123825" y="34544"/>
                  </a:lnTo>
                  <a:lnTo>
                    <a:pt x="121106" y="21109"/>
                  </a:lnTo>
                  <a:lnTo>
                    <a:pt x="113696" y="10128"/>
                  </a:lnTo>
                  <a:lnTo>
                    <a:pt x="102715" y="2718"/>
                  </a:lnTo>
                  <a:lnTo>
                    <a:pt x="89280" y="0"/>
                  </a:lnTo>
                  <a:close/>
                </a:path>
              </a:pathLst>
            </a:custGeom>
            <a:solidFill>
              <a:srgbClr val="9FA4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982454" y="2621216"/>
            <a:ext cx="3513454" cy="3793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Advanced</a:t>
            </a:r>
            <a:r>
              <a:rPr sz="2150" b="1" spc="10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Gait</a:t>
            </a:r>
            <a:r>
              <a:rPr sz="2150" b="1" spc="7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Analysis</a:t>
            </a:r>
            <a:endParaRPr sz="2150" dirty="0">
              <a:latin typeface="Calibri"/>
              <a:cs typeface="Calibri"/>
            </a:endParaRPr>
          </a:p>
          <a:p>
            <a:pPr marL="12700" marR="5080">
              <a:lnSpc>
                <a:spcPct val="139800"/>
              </a:lnSpc>
              <a:spcBef>
                <a:spcPts val="855"/>
              </a:spcBef>
            </a:pPr>
            <a:r>
              <a:rPr sz="1700" spc="15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2021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study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800" i="1" spc="60" dirty="0">
                <a:solidFill>
                  <a:srgbClr val="C2C4B5"/>
                </a:solidFill>
                <a:latin typeface="Cambria"/>
                <a:cs typeface="Cambria"/>
              </a:rPr>
              <a:t>Journal</a:t>
            </a:r>
            <a:r>
              <a:rPr sz="1800" i="1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800" i="1" spc="75" dirty="0">
                <a:solidFill>
                  <a:srgbClr val="C2C4B5"/>
                </a:solidFill>
                <a:latin typeface="Cambria"/>
                <a:cs typeface="Cambria"/>
              </a:rPr>
              <a:t>of </a:t>
            </a:r>
            <a:r>
              <a:rPr sz="1800" i="1" spc="70" dirty="0">
                <a:solidFill>
                  <a:srgbClr val="C2C4B5"/>
                </a:solidFill>
                <a:latin typeface="Cambria"/>
                <a:cs typeface="Cambria"/>
              </a:rPr>
              <a:t>Medical</a:t>
            </a:r>
            <a:r>
              <a:rPr sz="1800" i="1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800" i="1" spc="75" dirty="0">
                <a:solidFill>
                  <a:srgbClr val="C2C4B5"/>
                </a:solidFill>
                <a:latin typeface="Cambria"/>
                <a:cs typeface="Cambria"/>
              </a:rPr>
              <a:t>Engineering</a:t>
            </a:r>
            <a:r>
              <a:rPr sz="1800" i="1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800" i="1" spc="-50" dirty="0">
                <a:solidFill>
                  <a:srgbClr val="C2C4B5"/>
                </a:solidFill>
                <a:latin typeface="Cambria"/>
                <a:cs typeface="Cambria"/>
              </a:rPr>
              <a:t>&amp; </a:t>
            </a:r>
            <a:r>
              <a:rPr sz="1800" i="1" spc="80" dirty="0">
                <a:solidFill>
                  <a:srgbClr val="C2C4B5"/>
                </a:solidFill>
                <a:latin typeface="Cambria"/>
                <a:cs typeface="Cambria"/>
              </a:rPr>
              <a:t>Technology</a:t>
            </a:r>
            <a:r>
              <a:rPr sz="1800" i="1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highlighted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use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of </a:t>
            </a: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motion</a:t>
            </a:r>
            <a:r>
              <a:rPr sz="1700" b="1" spc="2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sensors</a:t>
            </a:r>
            <a:r>
              <a:rPr sz="1700" b="1" spc="3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embedded</a:t>
            </a:r>
            <a:r>
              <a:rPr sz="1700" b="1" spc="3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b="1" spc="-25" dirty="0">
                <a:solidFill>
                  <a:srgbClr val="C2C4B5"/>
                </a:solidFill>
                <a:latin typeface="Cambria"/>
                <a:cs typeface="Cambria"/>
              </a:rPr>
              <a:t>in </a:t>
            </a:r>
            <a:r>
              <a:rPr sz="1700" b="1" dirty="0">
                <a:solidFill>
                  <a:srgbClr val="C2C4B5"/>
                </a:solidFill>
                <a:latin typeface="Cambria"/>
                <a:cs typeface="Cambria"/>
              </a:rPr>
              <a:t>footwear</a:t>
            </a:r>
            <a:r>
              <a:rPr sz="1700" b="1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gait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analysis.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This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technology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5" dirty="0">
                <a:solidFill>
                  <a:srgbClr val="C2C4B5"/>
                </a:solidFill>
                <a:latin typeface="Cambria"/>
                <a:cs typeface="Cambria"/>
              </a:rPr>
              <a:t>has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diverse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applications,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from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rehabilitation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fall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risk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assessment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to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enhancing</a:t>
            </a:r>
            <a:r>
              <a:rPr sz="170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sports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biomechanics.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292" y="410463"/>
            <a:ext cx="639572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Foundational</a:t>
            </a:r>
            <a:r>
              <a:rPr sz="3200" spc="-125" dirty="0"/>
              <a:t> </a:t>
            </a:r>
            <a:r>
              <a:rPr sz="3200" spc="-10" dirty="0"/>
              <a:t>Research:Block</a:t>
            </a:r>
            <a:r>
              <a:rPr sz="3200" spc="-120" dirty="0"/>
              <a:t> </a:t>
            </a:r>
            <a:r>
              <a:rPr sz="3200" spc="-10" dirty="0"/>
              <a:t>Diagram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2425" y="1447800"/>
            <a:ext cx="6305550" cy="5991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120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</a:pPr>
            <a:r>
              <a:rPr sz="4100" dirty="0"/>
              <a:t>System</a:t>
            </a:r>
            <a:r>
              <a:rPr sz="4100" spc="-60" dirty="0"/>
              <a:t> </a:t>
            </a:r>
            <a:r>
              <a:rPr sz="4100" dirty="0"/>
              <a:t>Architecture:</a:t>
            </a:r>
            <a:r>
              <a:rPr sz="4100" spc="-15" dirty="0"/>
              <a:t> </a:t>
            </a:r>
            <a:r>
              <a:rPr sz="4100" dirty="0"/>
              <a:t>Innovation</a:t>
            </a:r>
            <a:r>
              <a:rPr sz="4100" spc="-45" dirty="0"/>
              <a:t> </a:t>
            </a:r>
            <a:r>
              <a:rPr sz="4100" dirty="0"/>
              <a:t>at</a:t>
            </a:r>
            <a:r>
              <a:rPr sz="4100" spc="-75" dirty="0"/>
              <a:t> </a:t>
            </a:r>
            <a:r>
              <a:rPr sz="4100" dirty="0"/>
              <a:t>Its</a:t>
            </a:r>
            <a:r>
              <a:rPr sz="4100" spc="-10" dirty="0"/>
              <a:t> </a:t>
            </a:r>
            <a:r>
              <a:rPr sz="4100" spc="-20" dirty="0"/>
              <a:t>Core</a:t>
            </a:r>
            <a:endParaRPr sz="4100" dirty="0"/>
          </a:p>
        </p:txBody>
      </p:sp>
      <p:sp>
        <p:nvSpPr>
          <p:cNvPr id="3" name="object 3"/>
          <p:cNvSpPr txBox="1"/>
          <p:nvPr/>
        </p:nvSpPr>
        <p:spPr>
          <a:xfrm>
            <a:off x="728344" y="1878901"/>
            <a:ext cx="976122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Our</a:t>
            </a:r>
            <a:r>
              <a:rPr sz="16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Athlete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Insight</a:t>
            </a:r>
            <a:r>
              <a:rPr sz="16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65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sz="165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meticulously</a:t>
            </a:r>
            <a:r>
              <a:rPr sz="16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5" dirty="0">
                <a:solidFill>
                  <a:srgbClr val="C2C4B5"/>
                </a:solidFill>
                <a:latin typeface="Cambria"/>
                <a:cs typeface="Cambria"/>
              </a:rPr>
              <a:t>engineered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6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efficiency,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accuracy,</a:t>
            </a:r>
            <a:r>
              <a:rPr sz="16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user</a:t>
            </a:r>
            <a:r>
              <a:rPr sz="16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C2C4B5"/>
                </a:solidFill>
                <a:latin typeface="Cambria"/>
                <a:cs typeface="Cambria"/>
              </a:rPr>
              <a:t>experience.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875" y="2398966"/>
            <a:ext cx="3786504" cy="1479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Seeeduino</a:t>
            </a:r>
            <a:r>
              <a:rPr sz="2000" b="1" spc="114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Nano</a:t>
            </a:r>
            <a:r>
              <a:rPr sz="2000" b="1" spc="12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(ATmega328P)</a:t>
            </a:r>
            <a:endParaRPr sz="2000">
              <a:latin typeface="Calibri"/>
              <a:cs typeface="Calibri"/>
            </a:endParaRPr>
          </a:p>
          <a:p>
            <a:pPr marR="15240" algn="r">
              <a:lnSpc>
                <a:spcPct val="100000"/>
              </a:lnSpc>
              <a:spcBef>
                <a:spcPts val="1635"/>
              </a:spcBef>
            </a:pP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6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central</a:t>
            </a:r>
            <a:r>
              <a:rPr sz="16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processing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C2C4B5"/>
                </a:solidFill>
                <a:latin typeface="Cambria"/>
                <a:cs typeface="Cambria"/>
              </a:rPr>
              <a:t>unit</a:t>
            </a:r>
            <a:r>
              <a:rPr sz="16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handles</a:t>
            </a:r>
            <a:r>
              <a:rPr sz="16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-25" dirty="0">
                <a:solidFill>
                  <a:srgbClr val="C2C4B5"/>
                </a:solidFill>
                <a:latin typeface="Cambria"/>
                <a:cs typeface="Cambria"/>
              </a:rPr>
              <a:t>all</a:t>
            </a:r>
            <a:endParaRPr sz="165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720"/>
              </a:spcBef>
            </a:pPr>
            <a:r>
              <a:rPr sz="1650" spc="55" dirty="0">
                <a:solidFill>
                  <a:srgbClr val="C2C4B5"/>
                </a:solidFill>
                <a:latin typeface="Cambria"/>
                <a:cs typeface="Cambria"/>
              </a:rPr>
              <a:t>local</a:t>
            </a:r>
            <a:r>
              <a:rPr sz="165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processing</a:t>
            </a:r>
            <a:r>
              <a:rPr sz="1650" spc="-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6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35" dirty="0">
                <a:solidFill>
                  <a:srgbClr val="C2C4B5"/>
                </a:solidFill>
                <a:latin typeface="Cambria"/>
                <a:cs typeface="Cambria"/>
              </a:rPr>
              <a:t>task</a:t>
            </a:r>
            <a:endParaRPr sz="1650">
              <a:latin typeface="Cambria"/>
              <a:cs typeface="Cambria"/>
            </a:endParaRPr>
          </a:p>
          <a:p>
            <a:pPr marR="7620" algn="r">
              <a:lnSpc>
                <a:spcPct val="100000"/>
              </a:lnSpc>
              <a:spcBef>
                <a:spcPts val="725"/>
              </a:spcBef>
            </a:pPr>
            <a:r>
              <a:rPr sz="1650" spc="90" dirty="0">
                <a:solidFill>
                  <a:srgbClr val="C2C4B5"/>
                </a:solidFill>
                <a:latin typeface="Cambria"/>
                <a:cs typeface="Cambria"/>
              </a:rPr>
              <a:t>management.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010150" y="2647950"/>
            <a:ext cx="4610100" cy="4600575"/>
            <a:chOff x="5010150" y="2647950"/>
            <a:chExt cx="4610100" cy="46005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0150" y="2647950"/>
              <a:ext cx="4610100" cy="46005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0825" y="3238500"/>
              <a:ext cx="314325" cy="3905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0150" y="2647950"/>
              <a:ext cx="4610100" cy="46005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1500" y="3552825"/>
              <a:ext cx="314325" cy="3143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0150" y="2647950"/>
              <a:ext cx="4610100" cy="46005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43950" y="5019675"/>
              <a:ext cx="314325" cy="4000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10150" y="2647950"/>
              <a:ext cx="4610100" cy="46005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05725" y="6257925"/>
              <a:ext cx="323850" cy="4000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10150" y="2647950"/>
              <a:ext cx="4610100" cy="46005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4575" y="5981700"/>
              <a:ext cx="314325" cy="4000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10150" y="2647950"/>
              <a:ext cx="4610100" cy="46005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2125" y="4467225"/>
              <a:ext cx="314325" cy="4000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91500" y="3543300"/>
              <a:ext cx="314325" cy="35242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821544" y="2398966"/>
            <a:ext cx="4025265" cy="1479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Input</a:t>
            </a:r>
            <a:r>
              <a:rPr sz="2000" b="1" spc="9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Sensors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36500"/>
              </a:lnSpc>
              <a:spcBef>
                <a:spcPts val="910"/>
              </a:spcBef>
            </a:pPr>
            <a:r>
              <a:rPr sz="1650" spc="55" dirty="0">
                <a:solidFill>
                  <a:srgbClr val="C2C4B5"/>
                </a:solidFill>
                <a:latin typeface="Cambria"/>
                <a:cs typeface="Cambria"/>
              </a:rPr>
              <a:t>BMA456</a:t>
            </a:r>
            <a:r>
              <a:rPr sz="16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5" dirty="0">
                <a:solidFill>
                  <a:srgbClr val="C2C4B5"/>
                </a:solidFill>
                <a:latin typeface="Cambria"/>
                <a:cs typeface="Cambria"/>
              </a:rPr>
              <a:t>accelerometer</a:t>
            </a:r>
            <a:r>
              <a:rPr sz="16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6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C2C4B5"/>
                </a:solidFill>
                <a:latin typeface="Cambria"/>
                <a:cs typeface="Cambria"/>
              </a:rPr>
              <a:t>step</a:t>
            </a:r>
            <a:r>
              <a:rPr sz="16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counting 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65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C2C4B5"/>
                </a:solidFill>
                <a:latin typeface="Cambria"/>
                <a:cs typeface="Cambria"/>
              </a:rPr>
              <a:t>MAX30102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6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Heart</a:t>
            </a:r>
            <a:r>
              <a:rPr sz="165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Rate</a:t>
            </a:r>
            <a:r>
              <a:rPr sz="16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&amp;</a:t>
            </a:r>
            <a:r>
              <a:rPr sz="1650" spc="-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SpO2 </a:t>
            </a:r>
            <a:r>
              <a:rPr sz="1650" spc="55" dirty="0">
                <a:solidFill>
                  <a:srgbClr val="C2C4B5"/>
                </a:solidFill>
                <a:latin typeface="Cambria"/>
                <a:cs typeface="Cambria"/>
              </a:rPr>
              <a:t>monitoring.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033381" y="4191317"/>
            <a:ext cx="3453129" cy="1478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Data</a:t>
            </a:r>
            <a:r>
              <a:rPr sz="2000" b="1" spc="3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Transmission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36500"/>
              </a:lnSpc>
              <a:spcBef>
                <a:spcPts val="910"/>
              </a:spcBef>
            </a:pPr>
            <a:r>
              <a:rPr sz="1650" spc="65" dirty="0">
                <a:solidFill>
                  <a:srgbClr val="C2C4B5"/>
                </a:solidFill>
                <a:latin typeface="Cambria"/>
                <a:cs typeface="Cambria"/>
              </a:rPr>
              <a:t>Bluetooth</a:t>
            </a:r>
            <a:r>
              <a:rPr sz="165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5" dirty="0">
                <a:solidFill>
                  <a:srgbClr val="C2C4B5"/>
                </a:solidFill>
                <a:latin typeface="Cambria"/>
                <a:cs typeface="Cambria"/>
              </a:rPr>
              <a:t>(HC-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05)</a:t>
            </a:r>
            <a:r>
              <a:rPr sz="16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0" dirty="0">
                <a:solidFill>
                  <a:srgbClr val="C2C4B5"/>
                </a:solidFill>
                <a:latin typeface="Cambria"/>
                <a:cs typeface="Cambria"/>
              </a:rPr>
              <a:t>UART</a:t>
            </a:r>
            <a:r>
              <a:rPr sz="16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module </a:t>
            </a:r>
            <a:r>
              <a:rPr sz="1650" spc="85" dirty="0">
                <a:solidFill>
                  <a:srgbClr val="C2C4B5"/>
                </a:solidFill>
                <a:latin typeface="Cambria"/>
                <a:cs typeface="Cambria"/>
              </a:rPr>
              <a:t>ensures</a:t>
            </a:r>
            <a:r>
              <a:rPr sz="165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seamless</a:t>
            </a:r>
            <a:r>
              <a:rPr sz="16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6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transfer</a:t>
            </a:r>
            <a:r>
              <a:rPr sz="16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6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C2C4B5"/>
                </a:solidFill>
                <a:latin typeface="Cambria"/>
                <a:cs typeface="Cambria"/>
              </a:rPr>
              <a:t>a </a:t>
            </a:r>
            <a:r>
              <a:rPr sz="1650" spc="90" dirty="0">
                <a:solidFill>
                  <a:srgbClr val="C2C4B5"/>
                </a:solidFill>
                <a:latin typeface="Cambria"/>
                <a:cs typeface="Cambria"/>
              </a:rPr>
              <a:t>smartphone</a:t>
            </a:r>
            <a:r>
              <a:rPr sz="16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application.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21544" y="5983668"/>
            <a:ext cx="3952875" cy="1478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On-Device</a:t>
            </a:r>
            <a:r>
              <a:rPr sz="2000" b="1" spc="15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Display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36500"/>
              </a:lnSpc>
              <a:spcBef>
                <a:spcPts val="910"/>
              </a:spcBef>
            </a:pP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Optional</a:t>
            </a:r>
            <a:r>
              <a:rPr sz="1650" spc="-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C2C4B5"/>
                </a:solidFill>
                <a:latin typeface="Cambria"/>
                <a:cs typeface="Cambria"/>
              </a:rPr>
              <a:t>SSD1306</a:t>
            </a:r>
            <a:r>
              <a:rPr sz="16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0" dirty="0">
                <a:solidFill>
                  <a:srgbClr val="C2C4B5"/>
                </a:solidFill>
                <a:latin typeface="Cambria"/>
                <a:cs typeface="Cambria"/>
              </a:rPr>
              <a:t>OLED</a:t>
            </a:r>
            <a:r>
              <a:rPr sz="16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Display</a:t>
            </a:r>
            <a:r>
              <a:rPr sz="16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C2C4B5"/>
                </a:solidFill>
                <a:latin typeface="Cambria"/>
                <a:cs typeface="Cambria"/>
              </a:rPr>
              <a:t>(I2C)</a:t>
            </a:r>
            <a:r>
              <a:rPr sz="165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25" dirty="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sz="1650" spc="85" dirty="0">
                <a:solidFill>
                  <a:srgbClr val="C2C4B5"/>
                </a:solidFill>
                <a:latin typeface="Cambria"/>
                <a:cs typeface="Cambria"/>
              </a:rPr>
              <a:t>immediate,</a:t>
            </a:r>
            <a:r>
              <a:rPr sz="16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time</a:t>
            </a:r>
            <a:r>
              <a:rPr sz="165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C2C4B5"/>
                </a:solidFill>
                <a:latin typeface="Cambria"/>
                <a:cs typeface="Cambria"/>
              </a:rPr>
              <a:t>feedback</a:t>
            </a:r>
            <a:r>
              <a:rPr sz="1650" spc="-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105" dirty="0">
                <a:solidFill>
                  <a:srgbClr val="C2C4B5"/>
                </a:solidFill>
                <a:latin typeface="Cambria"/>
                <a:cs typeface="Cambria"/>
              </a:rPr>
              <a:t>on</a:t>
            </a:r>
            <a:r>
              <a:rPr sz="165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60" dirty="0">
                <a:solidFill>
                  <a:srgbClr val="C2C4B5"/>
                </a:solidFill>
                <a:latin typeface="Cambria"/>
                <a:cs typeface="Cambria"/>
              </a:rPr>
              <a:t>the </a:t>
            </a:r>
            <a:r>
              <a:rPr sz="1650" spc="55" dirty="0">
                <a:solidFill>
                  <a:srgbClr val="C2C4B5"/>
                </a:solidFill>
                <a:latin typeface="Cambria"/>
                <a:cs typeface="Cambria"/>
              </a:rPr>
              <a:t>device.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1707" y="6153213"/>
            <a:ext cx="3861435" cy="1135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47189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Power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12700" marR="5080" indent="31750">
              <a:lnSpc>
                <a:spcPct val="136500"/>
              </a:lnSpc>
              <a:spcBef>
                <a:spcPts val="910"/>
              </a:spcBef>
            </a:pP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3.7V</a:t>
            </a:r>
            <a:r>
              <a:rPr sz="1650" spc="1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LiPo</a:t>
            </a:r>
            <a:r>
              <a:rPr sz="1650" spc="1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C2C4B5"/>
                </a:solidFill>
                <a:latin typeface="Cambria"/>
                <a:cs typeface="Cambria"/>
              </a:rPr>
              <a:t>battery</a:t>
            </a:r>
            <a:r>
              <a:rPr sz="1650" spc="1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650" spc="10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C2C4B5"/>
                </a:solidFill>
                <a:latin typeface="Cambria"/>
                <a:cs typeface="Cambria"/>
              </a:rPr>
              <a:t>TP4056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 charging </a:t>
            </a:r>
            <a:r>
              <a:rPr sz="1650" spc="65" dirty="0">
                <a:solidFill>
                  <a:srgbClr val="C2C4B5"/>
                </a:solidFill>
                <a:latin typeface="Cambria"/>
                <a:cs typeface="Cambria"/>
              </a:rPr>
              <a:t>circuit</a:t>
            </a:r>
            <a:r>
              <a:rPr sz="165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65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20" dirty="0">
                <a:solidFill>
                  <a:srgbClr val="C2C4B5"/>
                </a:solidFill>
                <a:latin typeface="Cambria"/>
                <a:cs typeface="Cambria"/>
              </a:rPr>
              <a:t>portability</a:t>
            </a:r>
            <a:r>
              <a:rPr sz="165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85" dirty="0">
                <a:solidFill>
                  <a:srgbClr val="C2C4B5"/>
                </a:solidFill>
                <a:latin typeface="Cambria"/>
                <a:cs typeface="Cambria"/>
              </a:rPr>
              <a:t>extended</a:t>
            </a:r>
            <a:r>
              <a:rPr sz="165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C2C4B5"/>
                </a:solidFill>
                <a:latin typeface="Cambria"/>
                <a:cs typeface="Cambria"/>
              </a:rPr>
              <a:t>use.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082" y="4360862"/>
            <a:ext cx="3700779" cy="1136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Advanced</a:t>
            </a:r>
            <a:r>
              <a:rPr sz="2000" b="1" spc="14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2C4B5"/>
                </a:solidFill>
                <a:latin typeface="Calibri"/>
                <a:cs typeface="Calibri"/>
              </a:rPr>
              <a:t>Analytics</a:t>
            </a:r>
            <a:r>
              <a:rPr sz="2000" b="1" spc="114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2C4B5"/>
                </a:solidFill>
                <a:latin typeface="Calibri"/>
                <a:cs typeface="Calibri"/>
              </a:rPr>
              <a:t>(Optional)</a:t>
            </a:r>
            <a:endParaRPr sz="2000">
              <a:latin typeface="Calibri"/>
              <a:cs typeface="Calibri"/>
            </a:endParaRPr>
          </a:p>
          <a:p>
            <a:pPr marL="360045" marR="5080" indent="-347980">
              <a:lnSpc>
                <a:spcPct val="136500"/>
              </a:lnSpc>
              <a:spcBef>
                <a:spcPts val="910"/>
              </a:spcBef>
            </a:pPr>
            <a:r>
              <a:rPr sz="1650" spc="20" dirty="0">
                <a:solidFill>
                  <a:srgbClr val="C2C4B5"/>
                </a:solidFill>
                <a:latin typeface="Cambria"/>
                <a:cs typeface="Cambria"/>
              </a:rPr>
              <a:t>Cloud/server</a:t>
            </a:r>
            <a:r>
              <a:rPr sz="165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100" dirty="0">
                <a:solidFill>
                  <a:srgbClr val="C2C4B5"/>
                </a:solidFill>
                <a:latin typeface="Cambria"/>
                <a:cs typeface="Cambria"/>
              </a:rPr>
              <a:t>component</a:t>
            </a:r>
            <a:r>
              <a:rPr sz="16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65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100" dirty="0">
                <a:solidFill>
                  <a:srgbClr val="C2C4B5"/>
                </a:solidFill>
                <a:latin typeface="Cambria"/>
                <a:cs typeface="Cambria"/>
              </a:rPr>
              <a:t>machine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learning</a:t>
            </a:r>
            <a:r>
              <a:rPr sz="1650" spc="-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9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65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C2C4B5"/>
                </a:solidFill>
                <a:latin typeface="Cambria"/>
                <a:cs typeface="Cambria"/>
              </a:rPr>
              <a:t>deeper</a:t>
            </a:r>
            <a:r>
              <a:rPr sz="165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650" spc="-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C2C4B5"/>
                </a:solidFill>
                <a:latin typeface="Cambria"/>
                <a:cs typeface="Cambria"/>
              </a:rPr>
              <a:t>analysis.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492" y="289877"/>
            <a:ext cx="8439849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/>
              <a:t>Implementation:</a:t>
            </a:r>
            <a:r>
              <a:rPr sz="2800" spc="90" dirty="0"/>
              <a:t> </a:t>
            </a:r>
            <a:r>
              <a:rPr sz="2800" dirty="0"/>
              <a:t>Hardware</a:t>
            </a:r>
            <a:r>
              <a:rPr sz="2800" spc="125" dirty="0"/>
              <a:t> </a:t>
            </a:r>
            <a:r>
              <a:rPr sz="2800" dirty="0"/>
              <a:t>&amp;</a:t>
            </a:r>
            <a:r>
              <a:rPr sz="2800" spc="60" dirty="0"/>
              <a:t> </a:t>
            </a:r>
            <a:r>
              <a:rPr sz="2800" spc="-10" dirty="0"/>
              <a:t>Software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384492" y="928306"/>
            <a:ext cx="144716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dirty="0">
                <a:solidFill>
                  <a:srgbClr val="E0E4CD"/>
                </a:solidFill>
                <a:latin typeface="Calibri"/>
                <a:cs typeface="Calibri"/>
              </a:rPr>
              <a:t>Hardware</a:t>
            </a:r>
            <a:r>
              <a:rPr sz="1700" b="1" spc="75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E0E4CD"/>
                </a:solidFill>
                <a:latin typeface="Calibri"/>
                <a:cs typeface="Calibri"/>
              </a:rPr>
              <a:t>Used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1362075"/>
            <a:ext cx="4362450" cy="3657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6379" y="5315267"/>
            <a:ext cx="6812280" cy="19405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6985" indent="-342900">
              <a:lnSpc>
                <a:spcPts val="1430"/>
              </a:lnSpc>
              <a:spcBef>
                <a:spcPts val="380"/>
              </a:spcBef>
              <a:buFont typeface="Cambria"/>
              <a:buChar char="•"/>
              <a:tabLst>
                <a:tab pos="355600" algn="l"/>
                <a:tab pos="1374775" algn="l"/>
                <a:tab pos="2004060" algn="l"/>
                <a:tab pos="2378710" algn="l"/>
                <a:tab pos="4216400" algn="l"/>
                <a:tab pos="4838700" algn="l"/>
                <a:tab pos="5343525" algn="l"/>
                <a:tab pos="5689600" algn="l"/>
              </a:tabLst>
            </a:pPr>
            <a:r>
              <a:rPr sz="1400" b="1" spc="-10" dirty="0">
                <a:solidFill>
                  <a:srgbClr val="C2C4B5"/>
                </a:solidFill>
                <a:latin typeface="Cambria"/>
                <a:cs typeface="Cambria"/>
              </a:rPr>
              <a:t>Seeeduino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b="1" spc="-20" dirty="0">
                <a:solidFill>
                  <a:srgbClr val="C2C4B5"/>
                </a:solidFill>
                <a:latin typeface="Cambria"/>
                <a:cs typeface="Cambria"/>
              </a:rPr>
              <a:t>Nano: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An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Arduino-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compatible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board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-2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an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ATmega328P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microcontroller,</a:t>
            </a:r>
            <a:r>
              <a:rPr sz="140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serving</a:t>
            </a:r>
            <a:r>
              <a:rPr sz="14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as</a:t>
            </a:r>
            <a:r>
              <a:rPr sz="14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brain</a:t>
            </a:r>
            <a:r>
              <a:rPr sz="14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40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our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system.</a:t>
            </a:r>
            <a:endParaRPr sz="1400">
              <a:latin typeface="Cambria"/>
              <a:cs typeface="Cambria"/>
            </a:endParaRPr>
          </a:p>
          <a:p>
            <a:pPr marL="354965" indent="-342265">
              <a:lnSpc>
                <a:spcPts val="1555"/>
              </a:lnSpc>
              <a:spcBef>
                <a:spcPts val="505"/>
              </a:spcBef>
              <a:buFont typeface="Cambria"/>
              <a:buChar char="•"/>
              <a:tabLst>
                <a:tab pos="354965" algn="l"/>
              </a:tabLst>
            </a:pP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Grove</a:t>
            </a:r>
            <a:r>
              <a:rPr sz="1400" b="1" spc="29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Step</a:t>
            </a:r>
            <a:r>
              <a:rPr sz="1400" b="1" spc="3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Sensor</a:t>
            </a:r>
            <a:r>
              <a:rPr sz="1400" b="1" spc="3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b="1" spc="-25" dirty="0">
                <a:solidFill>
                  <a:srgbClr val="C2C4B5"/>
                </a:solidFill>
                <a:latin typeface="Cambria"/>
                <a:cs typeface="Cambria"/>
              </a:rPr>
              <a:t>(BMA456):</a:t>
            </a:r>
            <a:r>
              <a:rPr sz="1400" b="1" spc="3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13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400" spc="30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triaxial</a:t>
            </a:r>
            <a:r>
              <a:rPr sz="1400" spc="3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70" dirty="0">
                <a:solidFill>
                  <a:srgbClr val="C2C4B5"/>
                </a:solidFill>
                <a:latin typeface="Cambria"/>
                <a:cs typeface="Cambria"/>
              </a:rPr>
              <a:t>accelerometer</a:t>
            </a:r>
            <a:r>
              <a:rPr sz="1400" spc="3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400" spc="3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400" spc="3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built-</a:t>
            </a:r>
            <a:r>
              <a:rPr sz="1400" spc="85" dirty="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sz="1400" spc="2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35" dirty="0">
                <a:solidFill>
                  <a:srgbClr val="C2C4B5"/>
                </a:solidFill>
                <a:latin typeface="Cambria"/>
                <a:cs typeface="Cambria"/>
              </a:rPr>
              <a:t>step</a:t>
            </a:r>
            <a:endParaRPr sz="1400">
              <a:latin typeface="Cambria"/>
              <a:cs typeface="Cambria"/>
            </a:endParaRPr>
          </a:p>
          <a:p>
            <a:pPr marL="355600">
              <a:lnSpc>
                <a:spcPts val="1555"/>
              </a:lnSpc>
            </a:pP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counter</a:t>
            </a:r>
            <a:r>
              <a:rPr sz="14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C2C4B5"/>
                </a:solidFill>
                <a:latin typeface="Cambria"/>
                <a:cs typeface="Cambria"/>
              </a:rPr>
              <a:t>an</a:t>
            </a:r>
            <a:r>
              <a:rPr sz="14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C2C4B5"/>
                </a:solidFill>
                <a:latin typeface="Cambria"/>
                <a:cs typeface="Cambria"/>
              </a:rPr>
              <a:t>I²C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interface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precise</a:t>
            </a:r>
            <a:r>
              <a:rPr sz="14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10" dirty="0">
                <a:solidFill>
                  <a:srgbClr val="C2C4B5"/>
                </a:solidFill>
                <a:latin typeface="Cambria"/>
                <a:cs typeface="Cambria"/>
              </a:rPr>
              <a:t>activity</a:t>
            </a:r>
            <a:r>
              <a:rPr sz="140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tracking</a:t>
            </a:r>
            <a:r>
              <a:rPr sz="800" spc="45" dirty="0">
                <a:solidFill>
                  <a:srgbClr val="C2C4B5"/>
                </a:solidFill>
                <a:latin typeface="Cambria"/>
                <a:cs typeface="Cambria"/>
              </a:rPr>
              <a:t>.</a:t>
            </a:r>
            <a:endParaRPr sz="800">
              <a:latin typeface="Cambria"/>
              <a:cs typeface="Cambria"/>
            </a:endParaRPr>
          </a:p>
          <a:p>
            <a:pPr marL="354965" indent="-342265">
              <a:lnSpc>
                <a:spcPts val="1555"/>
              </a:lnSpc>
              <a:spcBef>
                <a:spcPts val="1595"/>
              </a:spcBef>
              <a:buFont typeface="Cambria"/>
              <a:buChar char="•"/>
              <a:tabLst>
                <a:tab pos="354965" algn="l"/>
                <a:tab pos="1985645" algn="l"/>
                <a:tab pos="2783205" algn="l"/>
                <a:tab pos="3039745" algn="l"/>
                <a:tab pos="3889375" algn="l"/>
                <a:tab pos="4654550" algn="l"/>
                <a:tab pos="5511800" algn="l"/>
                <a:tab pos="6332855" algn="l"/>
              </a:tabLst>
            </a:pP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Bluetooth</a:t>
            </a:r>
            <a:r>
              <a:rPr sz="1400" b="1" spc="22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b="1" spc="114" dirty="0">
                <a:solidFill>
                  <a:srgbClr val="C2C4B5"/>
                </a:solidFill>
                <a:latin typeface="Cambria"/>
                <a:cs typeface="Cambria"/>
              </a:rPr>
              <a:t>HC-</a:t>
            </a:r>
            <a:r>
              <a:rPr sz="1400" b="1" spc="-25" dirty="0">
                <a:solidFill>
                  <a:srgbClr val="C2C4B5"/>
                </a:solidFill>
                <a:latin typeface="Cambria"/>
                <a:cs typeface="Cambria"/>
              </a:rPr>
              <a:t>05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b="1" spc="-10" dirty="0">
                <a:solidFill>
                  <a:srgbClr val="C2C4B5"/>
                </a:solidFill>
                <a:latin typeface="Cambria"/>
                <a:cs typeface="Cambria"/>
              </a:rPr>
              <a:t>Module: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8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low-</a:t>
            </a:r>
            <a:r>
              <a:rPr sz="1400" spc="40" dirty="0">
                <a:solidFill>
                  <a:srgbClr val="C2C4B5"/>
                </a:solidFill>
                <a:latin typeface="Cambria"/>
                <a:cs typeface="Cambria"/>
              </a:rPr>
              <a:t>cost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module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enabling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35" dirty="0">
                <a:solidFill>
                  <a:srgbClr val="C2C4B5"/>
                </a:solidFill>
                <a:latin typeface="Cambria"/>
                <a:cs typeface="Cambria"/>
              </a:rPr>
              <a:t>wireless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spc="40" dirty="0">
                <a:solidFill>
                  <a:srgbClr val="C2C4B5"/>
                </a:solidFill>
                <a:latin typeface="Cambria"/>
                <a:cs typeface="Cambria"/>
              </a:rPr>
              <a:t>serial</a:t>
            </a:r>
            <a:endParaRPr sz="1400">
              <a:latin typeface="Cambria"/>
              <a:cs typeface="Cambria"/>
            </a:endParaRPr>
          </a:p>
          <a:p>
            <a:pPr marL="355600">
              <a:lnSpc>
                <a:spcPts val="1550"/>
              </a:lnSpc>
            </a:pPr>
            <a:r>
              <a:rPr sz="1400" spc="80" dirty="0">
                <a:solidFill>
                  <a:srgbClr val="C2C4B5"/>
                </a:solidFill>
                <a:latin typeface="Cambria"/>
                <a:cs typeface="Cambria"/>
              </a:rPr>
              <a:t>communication</a:t>
            </a:r>
            <a:r>
              <a:rPr sz="14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4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transmission.</a:t>
            </a:r>
            <a:endParaRPr sz="1400">
              <a:latin typeface="Cambria"/>
              <a:cs typeface="Cambria"/>
            </a:endParaRPr>
          </a:p>
          <a:p>
            <a:pPr marL="355600" marR="5080" indent="-342900">
              <a:lnSpc>
                <a:spcPts val="1430"/>
              </a:lnSpc>
              <a:spcBef>
                <a:spcPts val="765"/>
              </a:spcBef>
              <a:buFont typeface="Cambria"/>
              <a:buChar char="•"/>
              <a:tabLst>
                <a:tab pos="355600" algn="l"/>
              </a:tabLst>
            </a:pP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Battery</a:t>
            </a:r>
            <a:r>
              <a:rPr sz="1400" b="1" spc="2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C2C4B5"/>
                </a:solidFill>
                <a:latin typeface="Cambria"/>
                <a:cs typeface="Cambria"/>
              </a:rPr>
              <a:t>(3-</a:t>
            </a:r>
            <a:r>
              <a:rPr sz="1400" b="1" spc="-25" dirty="0">
                <a:solidFill>
                  <a:srgbClr val="C2C4B5"/>
                </a:solidFill>
                <a:latin typeface="Cambria"/>
                <a:cs typeface="Cambria"/>
              </a:rPr>
              <a:t>5V):</a:t>
            </a:r>
            <a:r>
              <a:rPr sz="1400" b="1" spc="2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Provides</a:t>
            </a:r>
            <a:r>
              <a:rPr sz="1400" spc="1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400" spc="2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necessary</a:t>
            </a:r>
            <a:r>
              <a:rPr sz="1400" spc="2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power</a:t>
            </a:r>
            <a:r>
              <a:rPr sz="1400" spc="18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00" spc="229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portability</a:t>
            </a:r>
            <a:r>
              <a:rPr sz="1400" spc="2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400" spc="18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continuous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operation,</a:t>
            </a:r>
            <a:r>
              <a:rPr sz="140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70" dirty="0">
                <a:solidFill>
                  <a:srgbClr val="C2C4B5"/>
                </a:solidFill>
                <a:latin typeface="Cambria"/>
                <a:cs typeface="Cambria"/>
              </a:rPr>
              <a:t>ensuring</a:t>
            </a:r>
            <a:r>
              <a:rPr sz="14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8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4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truly</a:t>
            </a:r>
            <a:r>
              <a:rPr sz="14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wearable</a:t>
            </a:r>
            <a:r>
              <a:rPr sz="14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experience.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3376" y="928306"/>
            <a:ext cx="137096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dirty="0">
                <a:solidFill>
                  <a:srgbClr val="E0E4CD"/>
                </a:solidFill>
                <a:latin typeface="Calibri"/>
                <a:cs typeface="Calibri"/>
              </a:rPr>
              <a:t>Software</a:t>
            </a:r>
            <a:r>
              <a:rPr sz="1700" b="1" spc="130" dirty="0">
                <a:solidFill>
                  <a:srgbClr val="E0E4CD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E0E4CD"/>
                </a:solidFill>
                <a:latin typeface="Calibri"/>
                <a:cs typeface="Calibri"/>
              </a:rPr>
              <a:t>Used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5250" y="1362075"/>
            <a:ext cx="4038600" cy="36576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53376" y="5315267"/>
            <a:ext cx="6812280" cy="12795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6350" indent="-343535" algn="just">
              <a:lnSpc>
                <a:spcPct val="82700"/>
              </a:lnSpc>
              <a:spcBef>
                <a:spcPts val="415"/>
              </a:spcBef>
              <a:buFont typeface="Cambria"/>
              <a:buChar char="•"/>
              <a:tabLst>
                <a:tab pos="355600" algn="l"/>
                <a:tab pos="358140" algn="l"/>
              </a:tabLst>
            </a:pP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Arduino</a:t>
            </a:r>
            <a:r>
              <a:rPr sz="1400" b="1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IDE:</a:t>
            </a:r>
            <a:r>
              <a:rPr sz="1400" b="1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Utilized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 for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robust</a:t>
            </a:r>
            <a:r>
              <a:rPr sz="140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firmware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development </a:t>
            </a:r>
            <a:r>
              <a:rPr sz="1400" spc="85" dirty="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sz="14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C/C++.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4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handles </a:t>
            </a:r>
            <a:r>
              <a:rPr sz="1400" spc="70" dirty="0">
                <a:solidFill>
                  <a:srgbClr val="C2C4B5"/>
                </a:solidFill>
                <a:latin typeface="Cambria"/>
                <a:cs typeface="Cambria"/>
              </a:rPr>
              <a:t>sensor</a:t>
            </a:r>
            <a:r>
              <a:rPr sz="1400" spc="27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initialization,</a:t>
            </a:r>
            <a:r>
              <a:rPr sz="1400" spc="30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70" dirty="0">
                <a:solidFill>
                  <a:srgbClr val="C2C4B5"/>
                </a:solidFill>
                <a:latin typeface="Cambria"/>
                <a:cs typeface="Cambria"/>
              </a:rPr>
              <a:t>accurate</a:t>
            </a:r>
            <a:r>
              <a:rPr sz="1400" spc="28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400" spc="28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acquisition,</a:t>
            </a:r>
            <a:r>
              <a:rPr sz="1400" spc="28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8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400" spc="280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reliable</a:t>
            </a:r>
            <a:r>
              <a:rPr sz="1400" spc="270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Bluetooth 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communication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40" dirty="0">
                <a:solidFill>
                  <a:srgbClr val="C2C4B5"/>
                </a:solidFill>
                <a:latin typeface="Cambria"/>
                <a:cs typeface="Cambria"/>
              </a:rPr>
              <a:t>protocols.</a:t>
            </a:r>
            <a:endParaRPr sz="1400">
              <a:latin typeface="Cambria"/>
              <a:cs typeface="Cambria"/>
            </a:endParaRPr>
          </a:p>
          <a:p>
            <a:pPr marL="355600" marR="5080" indent="-343535" algn="just">
              <a:lnSpc>
                <a:spcPct val="82600"/>
              </a:lnSpc>
              <a:spcBef>
                <a:spcPts val="1220"/>
              </a:spcBef>
              <a:buFont typeface="Cambria"/>
              <a:buChar char="•"/>
              <a:tabLst>
                <a:tab pos="355600" algn="l"/>
                <a:tab pos="358140" algn="l"/>
              </a:tabLst>
            </a:pP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	</a:t>
            </a:r>
            <a:r>
              <a:rPr sz="1400" b="1" dirty="0">
                <a:solidFill>
                  <a:srgbClr val="C2C4B5"/>
                </a:solidFill>
                <a:latin typeface="Cambria"/>
                <a:cs typeface="Cambria"/>
              </a:rPr>
              <a:t>Kodular:</a:t>
            </a:r>
            <a:r>
              <a:rPr sz="1400" b="1" spc="400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13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400" spc="38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45" dirty="0">
                <a:solidFill>
                  <a:srgbClr val="C2C4B5"/>
                </a:solidFill>
                <a:latin typeface="Cambria"/>
                <a:cs typeface="Cambria"/>
              </a:rPr>
              <a:t>powerful</a:t>
            </a:r>
            <a:r>
              <a:rPr sz="1400" spc="409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block-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based</a:t>
            </a:r>
            <a:r>
              <a:rPr sz="1400" spc="39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80" dirty="0">
                <a:solidFill>
                  <a:srgbClr val="C2C4B5"/>
                </a:solidFill>
                <a:latin typeface="Cambria"/>
                <a:cs typeface="Cambria"/>
              </a:rPr>
              <a:t>programming</a:t>
            </a:r>
            <a:r>
              <a:rPr sz="1400" spc="40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platform</a:t>
            </a:r>
            <a:r>
              <a:rPr sz="1400" spc="38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400" spc="409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rapid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development</a:t>
            </a:r>
            <a:r>
              <a:rPr sz="1400" spc="114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400" spc="95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400" spc="114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65" dirty="0">
                <a:solidFill>
                  <a:srgbClr val="C2C4B5"/>
                </a:solidFill>
                <a:latin typeface="Cambria"/>
                <a:cs typeface="Cambria"/>
              </a:rPr>
              <a:t>Android</a:t>
            </a:r>
            <a:r>
              <a:rPr sz="1400" spc="4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application.</a:t>
            </a:r>
            <a:r>
              <a:rPr sz="1400" spc="110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It</a:t>
            </a:r>
            <a:r>
              <a:rPr sz="1400" spc="90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95" dirty="0">
                <a:solidFill>
                  <a:srgbClr val="C2C4B5"/>
                </a:solidFill>
                <a:latin typeface="Cambria"/>
                <a:cs typeface="Cambria"/>
              </a:rPr>
              <a:t>manages 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400" spc="114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graphical</a:t>
            </a:r>
            <a:r>
              <a:rPr sz="1400" spc="110" dirty="0">
                <a:solidFill>
                  <a:srgbClr val="C2C4B5"/>
                </a:solidFill>
                <a:latin typeface="Cambria"/>
                <a:cs typeface="Cambria"/>
              </a:rPr>
              <a:t>  </a:t>
            </a:r>
            <a:r>
              <a:rPr sz="1400" spc="40" dirty="0">
                <a:solidFill>
                  <a:srgbClr val="C2C4B5"/>
                </a:solidFill>
                <a:latin typeface="Cambria"/>
                <a:cs typeface="Cambria"/>
              </a:rPr>
              <a:t>user </a:t>
            </a:r>
            <a:r>
              <a:rPr sz="1400" spc="60" dirty="0">
                <a:solidFill>
                  <a:srgbClr val="C2C4B5"/>
                </a:solidFill>
                <a:latin typeface="Cambria"/>
                <a:cs typeface="Cambria"/>
              </a:rPr>
              <a:t>interface</a:t>
            </a:r>
            <a:r>
              <a:rPr sz="14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2C4B5"/>
                </a:solidFill>
                <a:latin typeface="Cambria"/>
                <a:cs typeface="Cambria"/>
              </a:rPr>
              <a:t>(GUI)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8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4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75" dirty="0">
                <a:solidFill>
                  <a:srgbClr val="C2C4B5"/>
                </a:solidFill>
                <a:latin typeface="Cambria"/>
                <a:cs typeface="Cambria"/>
              </a:rPr>
              <a:t>seamless</a:t>
            </a:r>
            <a:r>
              <a:rPr sz="14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Bluetooth</a:t>
            </a:r>
            <a:r>
              <a:rPr sz="14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4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C2C4B5"/>
                </a:solidFill>
                <a:latin typeface="Cambria"/>
                <a:cs typeface="Cambria"/>
              </a:rPr>
              <a:t>handling.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8698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30"/>
              </a:spcBef>
            </a:pPr>
            <a:r>
              <a:rPr dirty="0"/>
              <a:t>Anticipated</a:t>
            </a:r>
            <a:r>
              <a:rPr spc="-95" dirty="0"/>
              <a:t> </a:t>
            </a:r>
            <a:r>
              <a:rPr dirty="0"/>
              <a:t>Outcomes:</a:t>
            </a:r>
            <a:r>
              <a:rPr spc="-60" dirty="0"/>
              <a:t> </a:t>
            </a:r>
            <a:r>
              <a:rPr dirty="0"/>
              <a:t>Key</a:t>
            </a:r>
            <a:r>
              <a:rPr spc="-45" dirty="0"/>
              <a:t> </a:t>
            </a:r>
            <a:r>
              <a:rPr spc="-10" dirty="0"/>
              <a:t>Findings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" y="1952625"/>
            <a:ext cx="3048000" cy="1876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1684" y="4020122"/>
            <a:ext cx="2957830" cy="306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335">
              <a:lnSpc>
                <a:spcPct val="107700"/>
              </a:lnSpc>
              <a:spcBef>
                <a:spcPts val="9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Real-time</a:t>
            </a:r>
            <a:r>
              <a:rPr sz="2150" b="1" spc="12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Fitness</a:t>
            </a:r>
            <a:r>
              <a:rPr sz="2150" b="1" spc="5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Metrics Metrics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42100"/>
              </a:lnSpc>
              <a:spcBef>
                <a:spcPts val="965"/>
              </a:spcBef>
            </a:pP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will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cap="small" spc="90" dirty="0">
                <a:solidFill>
                  <a:srgbClr val="C2C4B5"/>
                </a:solidFill>
                <a:latin typeface="Cambria"/>
                <a:cs typeface="Cambria"/>
              </a:rPr>
              <a:t>cc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urately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tra</a:t>
            </a:r>
            <a:r>
              <a:rPr sz="1700" cap="small" spc="9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k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display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key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fitness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metri</a:t>
            </a:r>
            <a:r>
              <a:rPr sz="1700" cap="small" spc="10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s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su</a:t>
            </a:r>
            <a:r>
              <a:rPr sz="1700" cap="small" spc="13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h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as</a:t>
            </a:r>
            <a:r>
              <a:rPr sz="1700" spc="-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Step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Count,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Calories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Burned,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Heart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Rate,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Distan</a:t>
            </a:r>
            <a:r>
              <a:rPr sz="1700" cap="small" spc="10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e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Covered</a:t>
            </a:r>
            <a:r>
              <a:rPr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in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real-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time.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4325" y="1952625"/>
            <a:ext cx="3048000" cy="18764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5053" y="4020122"/>
            <a:ext cx="2883535" cy="343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85240">
              <a:lnSpc>
                <a:spcPct val="107700"/>
              </a:lnSpc>
              <a:spcBef>
                <a:spcPts val="9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Intuitive</a:t>
            </a:r>
            <a:r>
              <a:rPr sz="2150" b="1" spc="10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20" dirty="0">
                <a:solidFill>
                  <a:srgbClr val="C2C4B5"/>
                </a:solidFill>
                <a:latin typeface="Calibri"/>
                <a:cs typeface="Calibri"/>
              </a:rPr>
              <a:t>Data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Visualization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42300"/>
              </a:lnSpc>
              <a:spcBef>
                <a:spcPts val="960"/>
              </a:spcBef>
            </a:pP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developed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Android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appli</a:t>
            </a:r>
            <a:r>
              <a:rPr sz="1700" cap="small" spc="8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ation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will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provide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a </a:t>
            </a:r>
            <a:r>
              <a:rPr sz="1700" spc="135" dirty="0">
                <a:solidFill>
                  <a:srgbClr val="C2C4B5"/>
                </a:solidFill>
                <a:latin typeface="Cambria"/>
                <a:cs typeface="Cambria"/>
              </a:rPr>
              <a:t>user-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friendly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interfa</a:t>
            </a:r>
            <a:r>
              <a:rPr sz="1700" cap="small" spc="9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e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30" dirty="0">
                <a:solidFill>
                  <a:srgbClr val="C2C4B5"/>
                </a:solidFill>
                <a:latin typeface="Cambria"/>
                <a:cs typeface="Cambria"/>
              </a:rPr>
              <a:t>to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visualize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data,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enabling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users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monitor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progress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set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fitness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goals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effe</a:t>
            </a:r>
            <a:r>
              <a:rPr sz="1700" cap="small" spc="7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tively.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8075" y="1952625"/>
            <a:ext cx="3048000" cy="18764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48931" y="4020122"/>
            <a:ext cx="2947670" cy="306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6155">
              <a:lnSpc>
                <a:spcPct val="107700"/>
              </a:lnSpc>
              <a:spcBef>
                <a:spcPts val="9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Stable</a:t>
            </a:r>
            <a:r>
              <a:rPr sz="2150" b="1" spc="10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Bluetooth Connectivity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42100"/>
              </a:lnSpc>
              <a:spcBef>
                <a:spcPts val="965"/>
              </a:spcBef>
            </a:pP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devi</a:t>
            </a:r>
            <a:r>
              <a:rPr sz="1700" cap="small" spc="9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e</a:t>
            </a:r>
            <a:r>
              <a:rPr sz="1700" spc="-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will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demonstrate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robust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stable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Bluetooth </a:t>
            </a:r>
            <a:r>
              <a:rPr sz="1700" cap="small" spc="9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onne</a:t>
            </a:r>
            <a:r>
              <a:rPr sz="1700" cap="small" spc="9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tivity,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ensuring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reliable</a:t>
            </a:r>
            <a:r>
              <a:rPr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uninterrupted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transmission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the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smartphone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appli</a:t>
            </a:r>
            <a:r>
              <a:rPr sz="1700" cap="small" spc="7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ation.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91825" y="1952625"/>
            <a:ext cx="3048000" cy="18764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82554" y="4020122"/>
            <a:ext cx="2884805" cy="306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9390">
              <a:lnSpc>
                <a:spcPct val="107700"/>
              </a:lnSpc>
              <a:spcBef>
                <a:spcPts val="95"/>
              </a:spcBef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Ergonomic</a:t>
            </a:r>
            <a:r>
              <a:rPr sz="2150" b="1" spc="6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&amp;</a:t>
            </a:r>
            <a:r>
              <a:rPr sz="2150" b="1" spc="13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Wearable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Wearable</a:t>
            </a:r>
            <a:r>
              <a:rPr sz="2150" b="1" spc="8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Design</a:t>
            </a:r>
            <a:endParaRPr sz="2150">
              <a:latin typeface="Calibri"/>
              <a:cs typeface="Calibri"/>
            </a:endParaRPr>
          </a:p>
          <a:p>
            <a:pPr marL="12700" marR="5080">
              <a:lnSpc>
                <a:spcPct val="142100"/>
              </a:lnSpc>
              <a:spcBef>
                <a:spcPts val="965"/>
              </a:spcBef>
            </a:pP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final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prototype 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will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be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-18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cap="small" spc="114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ompa</a:t>
            </a:r>
            <a:r>
              <a:rPr sz="1700" cap="small" spc="114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t,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wearable,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and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ergonomi</a:t>
            </a:r>
            <a:r>
              <a:rPr sz="1700" cap="small" spc="12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devi</a:t>
            </a:r>
            <a:r>
              <a:rPr sz="1700" cap="small" spc="9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e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designed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cap="small" spc="114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omfort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cap="small" spc="6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ontinuous </a:t>
            </a: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daily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use,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integrating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seamlessly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into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daily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30" dirty="0">
                <a:solidFill>
                  <a:srgbClr val="C2C4B5"/>
                </a:solidFill>
                <a:latin typeface="Cambria"/>
                <a:cs typeface="Cambria"/>
              </a:rPr>
              <a:t>life.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331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Conclusion:</a:t>
            </a:r>
            <a:r>
              <a:rPr spc="-10" dirty="0"/>
              <a:t> </a:t>
            </a:r>
            <a:r>
              <a:rPr dirty="0"/>
              <a:t>Bridging</a:t>
            </a:r>
            <a:r>
              <a:rPr spc="15" dirty="0"/>
              <a:t> </a:t>
            </a:r>
            <a:r>
              <a:rPr spc="-20" dirty="0"/>
              <a:t>Technology</a:t>
            </a:r>
            <a:r>
              <a:rPr spc="1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Well-</a:t>
            </a:r>
            <a:r>
              <a:rPr spc="-10" dirty="0"/>
              <a:t>being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0575" y="3486150"/>
            <a:ext cx="7610475" cy="3524250"/>
            <a:chOff x="790575" y="3486150"/>
            <a:chExt cx="7610475" cy="3524250"/>
          </a:xfrm>
        </p:grpSpPr>
        <p:sp>
          <p:nvSpPr>
            <p:cNvPr id="4" name="object 4"/>
            <p:cNvSpPr/>
            <p:nvPr/>
          </p:nvSpPr>
          <p:spPr>
            <a:xfrm>
              <a:off x="790575" y="3486149"/>
              <a:ext cx="7610475" cy="3524250"/>
            </a:xfrm>
            <a:custGeom>
              <a:avLst/>
              <a:gdLst/>
              <a:ahLst/>
              <a:cxnLst/>
              <a:rect l="l" t="t" r="r" b="b"/>
              <a:pathLst>
                <a:path w="7610475" h="3524250">
                  <a:moveTo>
                    <a:pt x="7610475" y="34036"/>
                  </a:moveTo>
                  <a:lnTo>
                    <a:pt x="7607795" y="20789"/>
                  </a:lnTo>
                  <a:lnTo>
                    <a:pt x="7600493" y="9969"/>
                  </a:lnTo>
                  <a:lnTo>
                    <a:pt x="7589685" y="2679"/>
                  </a:lnTo>
                  <a:lnTo>
                    <a:pt x="7576439" y="0"/>
                  </a:lnTo>
                  <a:lnTo>
                    <a:pt x="34061" y="0"/>
                  </a:lnTo>
                  <a:lnTo>
                    <a:pt x="20802" y="2679"/>
                  </a:lnTo>
                  <a:lnTo>
                    <a:pt x="9969" y="9969"/>
                  </a:lnTo>
                  <a:lnTo>
                    <a:pt x="2667" y="20789"/>
                  </a:lnTo>
                  <a:lnTo>
                    <a:pt x="0" y="34036"/>
                  </a:lnTo>
                  <a:lnTo>
                    <a:pt x="0" y="1728089"/>
                  </a:lnTo>
                  <a:lnTo>
                    <a:pt x="0" y="1762125"/>
                  </a:lnTo>
                  <a:lnTo>
                    <a:pt x="0" y="3490214"/>
                  </a:lnTo>
                  <a:lnTo>
                    <a:pt x="0" y="3524250"/>
                  </a:lnTo>
                  <a:lnTo>
                    <a:pt x="34036" y="3524250"/>
                  </a:lnTo>
                  <a:lnTo>
                    <a:pt x="7576439" y="3524250"/>
                  </a:lnTo>
                  <a:lnTo>
                    <a:pt x="7610475" y="3524250"/>
                  </a:lnTo>
                  <a:lnTo>
                    <a:pt x="7610475" y="3490214"/>
                  </a:lnTo>
                  <a:lnTo>
                    <a:pt x="7610475" y="1762125"/>
                  </a:lnTo>
                  <a:lnTo>
                    <a:pt x="7610475" y="1728089"/>
                  </a:lnTo>
                  <a:lnTo>
                    <a:pt x="7610475" y="34036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575" y="5248275"/>
              <a:ext cx="7610475" cy="28575"/>
            </a:xfrm>
            <a:custGeom>
              <a:avLst/>
              <a:gdLst/>
              <a:ahLst/>
              <a:cxnLst/>
              <a:rect l="l" t="t" r="r" b="b"/>
              <a:pathLst>
                <a:path w="7610475" h="28575">
                  <a:moveTo>
                    <a:pt x="7604125" y="0"/>
                  </a:moveTo>
                  <a:lnTo>
                    <a:pt x="6400" y="0"/>
                  </a:lnTo>
                  <a:lnTo>
                    <a:pt x="0" y="6350"/>
                  </a:lnTo>
                  <a:lnTo>
                    <a:pt x="0" y="14224"/>
                  </a:lnTo>
                  <a:lnTo>
                    <a:pt x="0" y="22225"/>
                  </a:lnTo>
                  <a:lnTo>
                    <a:pt x="6400" y="28575"/>
                  </a:lnTo>
                  <a:lnTo>
                    <a:pt x="7604125" y="28575"/>
                  </a:lnTo>
                  <a:lnTo>
                    <a:pt x="7610475" y="22225"/>
                  </a:lnTo>
                  <a:lnTo>
                    <a:pt x="7610475" y="6350"/>
                  </a:lnTo>
                  <a:lnTo>
                    <a:pt x="7604125" y="0"/>
                  </a:lnTo>
                  <a:close/>
                </a:path>
              </a:pathLst>
            </a:custGeom>
            <a:solidFill>
              <a:srgbClr val="535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1684" y="2084006"/>
            <a:ext cx="7317740" cy="4686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8735">
              <a:lnSpc>
                <a:spcPct val="141700"/>
              </a:lnSpc>
              <a:spcBef>
                <a:spcPts val="130"/>
              </a:spcBef>
            </a:pP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proje</a:t>
            </a:r>
            <a:r>
              <a:rPr sz="1700" cap="small" spc="8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su</a:t>
            </a:r>
            <a:r>
              <a:rPr sz="1700" cap="small" spc="100" dirty="0">
                <a:solidFill>
                  <a:srgbClr val="C2C4B5"/>
                </a:solidFill>
                <a:latin typeface="Cambria"/>
                <a:cs typeface="Cambria"/>
              </a:rPr>
              <a:t>cc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essfully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demonstrates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development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smart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wearable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fitness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tra</a:t>
            </a:r>
            <a:r>
              <a:rPr sz="1700" cap="small" spc="9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ker,</a:t>
            </a:r>
            <a:r>
              <a:rPr sz="1700" spc="-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effe</a:t>
            </a:r>
            <a:r>
              <a:rPr sz="1700" cap="small" spc="8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tively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bridging</a:t>
            </a:r>
            <a:r>
              <a:rPr sz="170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gap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between</a:t>
            </a:r>
            <a:r>
              <a:rPr sz="1700" spc="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cap="small" spc="9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utting- </a:t>
            </a: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edge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te</a:t>
            </a:r>
            <a:r>
              <a:rPr sz="1700" cap="small" spc="10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hnology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personal</a:t>
            </a:r>
            <a:r>
              <a:rPr sz="1700" spc="-2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well-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being.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Cambria"/>
              <a:cs typeface="Cambria"/>
            </a:endParaRPr>
          </a:p>
          <a:p>
            <a:pPr marL="239395">
              <a:lnSpc>
                <a:spcPct val="100000"/>
              </a:lnSpc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Empowering</a:t>
            </a:r>
            <a:r>
              <a:rPr sz="2150" b="1" spc="16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Actionable</a:t>
            </a:r>
            <a:r>
              <a:rPr sz="2150" b="1" spc="17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Insights</a:t>
            </a:r>
            <a:endParaRPr sz="2150">
              <a:latin typeface="Calibri"/>
              <a:cs typeface="Calibri"/>
            </a:endParaRPr>
          </a:p>
          <a:p>
            <a:pPr marL="239395" marR="259079">
              <a:lnSpc>
                <a:spcPct val="143500"/>
              </a:lnSpc>
              <a:spcBef>
                <a:spcPts val="1639"/>
              </a:spcBef>
            </a:pPr>
            <a:r>
              <a:rPr sz="1700" spc="60" dirty="0">
                <a:solidFill>
                  <a:srgbClr val="C2C4B5"/>
                </a:solidFill>
                <a:latin typeface="Cambria"/>
                <a:cs typeface="Cambria"/>
              </a:rPr>
              <a:t>By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providing</a:t>
            </a:r>
            <a:r>
              <a:rPr sz="1700" spc="-5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cap="small" spc="114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ontinuous</a:t>
            </a:r>
            <a:r>
              <a:rPr sz="1700" spc="-7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monitoring</a:t>
            </a:r>
            <a:r>
              <a:rPr sz="170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vital</a:t>
            </a:r>
            <a:r>
              <a:rPr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signs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30" dirty="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cap="small" spc="7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tivity,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35" dirty="0">
                <a:solidFill>
                  <a:srgbClr val="C2C4B5"/>
                </a:solidFill>
                <a:latin typeface="Cambria"/>
                <a:cs typeface="Cambria"/>
              </a:rPr>
              <a:t>our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empowers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users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sz="1700" spc="-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sz="1700" cap="small" spc="9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tionable</a:t>
            </a:r>
            <a:r>
              <a:rPr sz="1700" spc="-3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health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1700">
              <a:latin typeface="Cambria"/>
              <a:cs typeface="Cambria"/>
            </a:endParaRPr>
          </a:p>
          <a:p>
            <a:pPr marL="239395">
              <a:lnSpc>
                <a:spcPct val="100000"/>
              </a:lnSpc>
            </a:pP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Contributing</a:t>
            </a:r>
            <a:r>
              <a:rPr sz="2150" b="1" spc="20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to</a:t>
            </a:r>
            <a:r>
              <a:rPr sz="2150" b="1" spc="114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2C4B5"/>
                </a:solidFill>
                <a:latin typeface="Calibri"/>
                <a:cs typeface="Calibri"/>
              </a:rPr>
              <a:t>Preventive</a:t>
            </a:r>
            <a:r>
              <a:rPr sz="2150" b="1" spc="45" dirty="0">
                <a:solidFill>
                  <a:srgbClr val="C2C4B5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C2C4B5"/>
                </a:solidFill>
                <a:latin typeface="Calibri"/>
                <a:cs typeface="Calibri"/>
              </a:rPr>
              <a:t>Healthcare</a:t>
            </a:r>
            <a:endParaRPr sz="2150">
              <a:latin typeface="Calibri"/>
              <a:cs typeface="Calibri"/>
            </a:endParaRPr>
          </a:p>
          <a:p>
            <a:pPr marL="239395">
              <a:lnSpc>
                <a:spcPct val="100000"/>
              </a:lnSpc>
              <a:spcBef>
                <a:spcPts val="2530"/>
              </a:spcBef>
            </a:pP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0" dirty="0">
                <a:solidFill>
                  <a:srgbClr val="C2C4B5"/>
                </a:solidFill>
                <a:latin typeface="Cambria"/>
                <a:cs typeface="Cambria"/>
              </a:rPr>
              <a:t>initiative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signifi</a:t>
            </a:r>
            <a:r>
              <a:rPr sz="1700" cap="small" spc="85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antly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cap="small" spc="9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90" dirty="0">
                <a:solidFill>
                  <a:srgbClr val="C2C4B5"/>
                </a:solidFill>
                <a:latin typeface="Cambria"/>
                <a:cs typeface="Cambria"/>
              </a:rPr>
              <a:t>ontributes</a:t>
            </a:r>
            <a:r>
              <a:rPr sz="1700" spc="1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sz="1700" spc="-3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C2C4B5"/>
                </a:solidFill>
                <a:latin typeface="Cambria"/>
                <a:cs typeface="Cambria"/>
              </a:rPr>
              <a:t>rapidly</a:t>
            </a:r>
            <a:r>
              <a:rPr sz="170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growing</a:t>
            </a:r>
            <a:r>
              <a:rPr sz="1700" spc="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field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30" dirty="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endParaRPr sz="1700">
              <a:latin typeface="Cambria"/>
              <a:cs typeface="Cambria"/>
            </a:endParaRPr>
          </a:p>
          <a:p>
            <a:pPr marL="239395">
              <a:lnSpc>
                <a:spcPct val="100000"/>
              </a:lnSpc>
              <a:spcBef>
                <a:spcPts val="885"/>
              </a:spcBef>
            </a:pPr>
            <a:r>
              <a:rPr sz="1700" spc="85" dirty="0">
                <a:solidFill>
                  <a:srgbClr val="C2C4B5"/>
                </a:solidFill>
                <a:latin typeface="Cambria"/>
                <a:cs typeface="Cambria"/>
              </a:rPr>
              <a:t>preventive</a:t>
            </a:r>
            <a:r>
              <a:rPr sz="1700" spc="-2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health</a:t>
            </a:r>
            <a:r>
              <a:rPr sz="1700" cap="small" spc="10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100" dirty="0">
                <a:solidFill>
                  <a:srgbClr val="C2C4B5"/>
                </a:solidFill>
                <a:latin typeface="Cambria"/>
                <a:cs typeface="Cambria"/>
              </a:rPr>
              <a:t>are,</a:t>
            </a:r>
            <a:r>
              <a:rPr sz="1700" spc="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C2C4B5"/>
                </a:solidFill>
                <a:latin typeface="Cambria"/>
                <a:cs typeface="Cambria"/>
              </a:rPr>
              <a:t>promoting</a:t>
            </a:r>
            <a:r>
              <a:rPr sz="1700" spc="4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proa</a:t>
            </a:r>
            <a:r>
              <a:rPr sz="1700" cap="small" spc="80" dirty="0">
                <a:solidFill>
                  <a:srgbClr val="C2C4B5"/>
                </a:solidFill>
                <a:latin typeface="Cambria"/>
                <a:cs typeface="Cambria"/>
              </a:rPr>
              <a:t>c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tive</a:t>
            </a:r>
            <a:r>
              <a:rPr sz="1700" spc="6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95" dirty="0">
                <a:solidFill>
                  <a:srgbClr val="C2C4B5"/>
                </a:solidFill>
                <a:latin typeface="Cambria"/>
                <a:cs typeface="Cambria"/>
              </a:rPr>
              <a:t>health</a:t>
            </a:r>
            <a:r>
              <a:rPr sz="1700" spc="1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C2C4B5"/>
                </a:solidFill>
                <a:latin typeface="Cambria"/>
                <a:cs typeface="Cambria"/>
              </a:rPr>
              <a:t>management.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3025" y="2200275"/>
            <a:ext cx="4876800" cy="48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290" y="521588"/>
            <a:ext cx="9894570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800" dirty="0"/>
              <a:t>Future</a:t>
            </a:r>
            <a:r>
              <a:rPr sz="3800" spc="-160" dirty="0"/>
              <a:t> </a:t>
            </a:r>
            <a:r>
              <a:rPr sz="3800" dirty="0"/>
              <a:t>Scope:</a:t>
            </a:r>
            <a:r>
              <a:rPr sz="3800" spc="-105" dirty="0"/>
              <a:t> </a:t>
            </a:r>
            <a:r>
              <a:rPr sz="3800" dirty="0"/>
              <a:t>Evolving</a:t>
            </a:r>
            <a:r>
              <a:rPr sz="3800" spc="-114" dirty="0"/>
              <a:t> </a:t>
            </a:r>
            <a:r>
              <a:rPr sz="3800" dirty="0"/>
              <a:t>the</a:t>
            </a:r>
            <a:r>
              <a:rPr sz="3800" spc="-145" dirty="0"/>
              <a:t> </a:t>
            </a:r>
            <a:r>
              <a:rPr sz="3800" spc="-10" dirty="0"/>
              <a:t>Athlete</a:t>
            </a:r>
            <a:r>
              <a:rPr sz="3800" spc="-145" dirty="0"/>
              <a:t> </a:t>
            </a:r>
            <a:r>
              <a:rPr sz="3800" dirty="0"/>
              <a:t>Insight</a:t>
            </a:r>
            <a:r>
              <a:rPr sz="3800" spc="-145" dirty="0"/>
              <a:t> </a:t>
            </a:r>
            <a:r>
              <a:rPr sz="3800" spc="-10" dirty="0"/>
              <a:t>System</a:t>
            </a:r>
            <a:endParaRPr sz="3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562100"/>
            <a:ext cx="971550" cy="971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" y="2724150"/>
            <a:ext cx="971550" cy="9810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" y="3895725"/>
            <a:ext cx="971550" cy="1238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800" y="5334000"/>
            <a:ext cx="971550" cy="971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800" y="6496050"/>
            <a:ext cx="971550" cy="9810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AI</a:t>
            </a:r>
            <a:r>
              <a:rPr spc="114" dirty="0"/>
              <a:t> </a:t>
            </a:r>
            <a:r>
              <a:rPr dirty="0"/>
              <a:t>&amp;</a:t>
            </a:r>
            <a:r>
              <a:rPr spc="40" dirty="0"/>
              <a:t> </a:t>
            </a:r>
            <a:r>
              <a:rPr dirty="0"/>
              <a:t>Machine</a:t>
            </a:r>
            <a:r>
              <a:rPr spc="125" dirty="0"/>
              <a:t> </a:t>
            </a:r>
            <a:r>
              <a:rPr dirty="0"/>
              <a:t>Learning</a:t>
            </a:r>
            <a:r>
              <a:rPr spc="100" dirty="0"/>
              <a:t> </a:t>
            </a:r>
            <a:r>
              <a:rPr spc="-10" dirty="0"/>
              <a:t>Integration</a:t>
            </a: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500" b="0" spc="60" dirty="0">
                <a:latin typeface="Cambria"/>
                <a:cs typeface="Cambria"/>
              </a:rPr>
              <a:t>Integrate</a:t>
            </a:r>
            <a:r>
              <a:rPr sz="1500" b="0" spc="-15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AI</a:t>
            </a:r>
            <a:r>
              <a:rPr sz="1500" b="0" spc="-15" dirty="0">
                <a:latin typeface="Cambria"/>
                <a:cs typeface="Cambria"/>
              </a:rPr>
              <a:t> </a:t>
            </a:r>
            <a:r>
              <a:rPr sz="1500" b="0" spc="85" dirty="0">
                <a:latin typeface="Cambria"/>
                <a:cs typeface="Cambria"/>
              </a:rPr>
              <a:t>and</a:t>
            </a:r>
            <a:r>
              <a:rPr sz="1500" b="0" spc="-10" dirty="0">
                <a:latin typeface="Cambria"/>
                <a:cs typeface="Cambria"/>
              </a:rPr>
              <a:t> </a:t>
            </a:r>
            <a:r>
              <a:rPr sz="1500" b="0" spc="85" dirty="0">
                <a:latin typeface="Cambria"/>
                <a:cs typeface="Cambria"/>
              </a:rPr>
              <a:t>ma</a:t>
            </a:r>
            <a:r>
              <a:rPr sz="1500" b="0" cap="small" spc="85" dirty="0">
                <a:latin typeface="Cambria"/>
                <a:cs typeface="Cambria"/>
              </a:rPr>
              <a:t>c</a:t>
            </a:r>
            <a:r>
              <a:rPr sz="1500" b="0" spc="85" dirty="0">
                <a:latin typeface="Cambria"/>
                <a:cs typeface="Cambria"/>
              </a:rPr>
              <a:t>hine</a:t>
            </a:r>
            <a:r>
              <a:rPr sz="1500" b="0" spc="-1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learning</a:t>
            </a:r>
            <a:r>
              <a:rPr sz="1500" b="0" spc="-3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for</a:t>
            </a:r>
            <a:r>
              <a:rPr sz="1500" b="0" spc="-80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predi</a:t>
            </a:r>
            <a:r>
              <a:rPr sz="1500" b="0" cap="small" spc="50" dirty="0">
                <a:latin typeface="Cambria"/>
                <a:cs typeface="Cambria"/>
              </a:rPr>
              <a:t>c</a:t>
            </a:r>
            <a:r>
              <a:rPr sz="1500" b="0" spc="50" dirty="0">
                <a:latin typeface="Cambria"/>
                <a:cs typeface="Cambria"/>
              </a:rPr>
              <a:t>tive</a:t>
            </a:r>
            <a:r>
              <a:rPr sz="1500" b="0" spc="-15" dirty="0">
                <a:latin typeface="Cambria"/>
                <a:cs typeface="Cambria"/>
              </a:rPr>
              <a:t> </a:t>
            </a:r>
            <a:r>
              <a:rPr sz="1500" b="0" spc="60" dirty="0">
                <a:latin typeface="Cambria"/>
                <a:cs typeface="Cambria"/>
              </a:rPr>
              <a:t>insights</a:t>
            </a:r>
            <a:r>
              <a:rPr sz="1500" b="0" spc="-60" dirty="0">
                <a:latin typeface="Cambria"/>
                <a:cs typeface="Cambria"/>
              </a:rPr>
              <a:t> </a:t>
            </a:r>
            <a:r>
              <a:rPr sz="1500" b="0" spc="85" dirty="0">
                <a:latin typeface="Cambria"/>
                <a:cs typeface="Cambria"/>
              </a:rPr>
              <a:t>and</a:t>
            </a:r>
            <a:r>
              <a:rPr sz="1500" b="0" spc="-5" dirty="0">
                <a:latin typeface="Cambria"/>
                <a:cs typeface="Cambria"/>
              </a:rPr>
              <a:t> </a:t>
            </a:r>
            <a:r>
              <a:rPr sz="1500" b="0" spc="45" dirty="0">
                <a:latin typeface="Cambria"/>
                <a:cs typeface="Cambria"/>
              </a:rPr>
              <a:t>adaptive</a:t>
            </a:r>
            <a:r>
              <a:rPr sz="1500" b="0" spc="-15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health</a:t>
            </a:r>
            <a:r>
              <a:rPr sz="1500" b="0" spc="-50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re</a:t>
            </a:r>
            <a:r>
              <a:rPr sz="1500" b="0" cap="small" spc="75" dirty="0">
                <a:latin typeface="Cambria"/>
                <a:cs typeface="Cambria"/>
              </a:rPr>
              <a:t>c</a:t>
            </a:r>
            <a:r>
              <a:rPr sz="1500" b="0" spc="75" dirty="0">
                <a:latin typeface="Cambria"/>
                <a:cs typeface="Cambria"/>
              </a:rPr>
              <a:t>ommendations,</a:t>
            </a:r>
            <a:r>
              <a:rPr sz="1500" b="0" spc="10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moving</a:t>
            </a:r>
            <a:r>
              <a:rPr sz="1500" b="0" spc="-25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beyond</a:t>
            </a:r>
            <a:r>
              <a:rPr sz="1500" b="0" spc="-85" dirty="0">
                <a:latin typeface="Cambria"/>
                <a:cs typeface="Cambria"/>
              </a:rPr>
              <a:t> </a:t>
            </a:r>
            <a:r>
              <a:rPr sz="1500" b="0" spc="90" dirty="0">
                <a:latin typeface="Cambria"/>
                <a:cs typeface="Cambria"/>
              </a:rPr>
              <a:t>mere</a:t>
            </a:r>
            <a:r>
              <a:rPr sz="1500" b="0" spc="-10" dirty="0">
                <a:latin typeface="Cambria"/>
                <a:cs typeface="Cambria"/>
              </a:rPr>
              <a:t> </a:t>
            </a:r>
            <a:r>
              <a:rPr sz="1500" b="0" spc="55" dirty="0">
                <a:latin typeface="Cambria"/>
                <a:cs typeface="Cambria"/>
              </a:rPr>
              <a:t>data</a:t>
            </a:r>
            <a:r>
              <a:rPr sz="1500" b="0" spc="-15" dirty="0">
                <a:latin typeface="Cambria"/>
                <a:cs typeface="Cambria"/>
              </a:rPr>
              <a:t> </a:t>
            </a:r>
            <a:r>
              <a:rPr sz="1500" b="0" cap="small" spc="60" dirty="0">
                <a:latin typeface="Cambria"/>
                <a:cs typeface="Cambria"/>
              </a:rPr>
              <a:t>c</a:t>
            </a:r>
            <a:r>
              <a:rPr sz="1500" b="0" spc="60" dirty="0">
                <a:latin typeface="Cambria"/>
                <a:cs typeface="Cambria"/>
              </a:rPr>
              <a:t>olle</a:t>
            </a:r>
            <a:r>
              <a:rPr sz="1500" b="0" cap="small" spc="60" dirty="0">
                <a:latin typeface="Cambria"/>
                <a:cs typeface="Cambria"/>
              </a:rPr>
              <a:t>c</a:t>
            </a:r>
            <a:r>
              <a:rPr sz="1500" b="0" spc="60" dirty="0">
                <a:latin typeface="Cambria"/>
                <a:cs typeface="Cambria"/>
              </a:rPr>
              <a:t>tion.</a:t>
            </a: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Cloud</a:t>
            </a:r>
            <a:r>
              <a:rPr spc="145" dirty="0"/>
              <a:t> </a:t>
            </a:r>
            <a:r>
              <a:rPr dirty="0"/>
              <a:t>Connectivity</a:t>
            </a:r>
            <a:r>
              <a:rPr spc="200" dirty="0"/>
              <a:t> </a:t>
            </a:r>
            <a:r>
              <a:rPr spc="-10" dirty="0"/>
              <a:t>Enhancement</a:t>
            </a: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500" b="0" spc="95" dirty="0">
                <a:latin typeface="Cambria"/>
                <a:cs typeface="Cambria"/>
              </a:rPr>
              <a:t>Enhan</a:t>
            </a:r>
            <a:r>
              <a:rPr sz="1500" b="0" cap="small" spc="95" dirty="0">
                <a:latin typeface="Cambria"/>
                <a:cs typeface="Cambria"/>
              </a:rPr>
              <a:t>c</a:t>
            </a:r>
            <a:r>
              <a:rPr sz="1500" b="0" spc="95" dirty="0">
                <a:latin typeface="Cambria"/>
                <a:cs typeface="Cambria"/>
              </a:rPr>
              <a:t>e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the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system</a:t>
            </a:r>
            <a:r>
              <a:rPr sz="1500" b="0" spc="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with</a:t>
            </a:r>
            <a:r>
              <a:rPr sz="1500" b="0" spc="-2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robust</a:t>
            </a:r>
            <a:r>
              <a:rPr sz="1500" b="0" spc="-5" dirty="0">
                <a:latin typeface="Cambria"/>
                <a:cs typeface="Cambria"/>
              </a:rPr>
              <a:t> </a:t>
            </a:r>
            <a:r>
              <a:rPr sz="1500" b="0" cap="small" spc="60" dirty="0">
                <a:latin typeface="Cambria"/>
                <a:cs typeface="Cambria"/>
              </a:rPr>
              <a:t>c</a:t>
            </a:r>
            <a:r>
              <a:rPr sz="1500" b="0" spc="60" dirty="0">
                <a:latin typeface="Cambria"/>
                <a:cs typeface="Cambria"/>
              </a:rPr>
              <a:t>loud</a:t>
            </a:r>
            <a:r>
              <a:rPr sz="1500" b="0" spc="20" dirty="0">
                <a:latin typeface="Cambria"/>
                <a:cs typeface="Cambria"/>
              </a:rPr>
              <a:t> </a:t>
            </a:r>
            <a:r>
              <a:rPr sz="1500" b="0" cap="small" spc="55" dirty="0">
                <a:latin typeface="Cambria"/>
                <a:cs typeface="Cambria"/>
              </a:rPr>
              <a:t>c</a:t>
            </a:r>
            <a:r>
              <a:rPr sz="1500" b="0" spc="55" dirty="0">
                <a:latin typeface="Cambria"/>
                <a:cs typeface="Cambria"/>
              </a:rPr>
              <a:t>onne</a:t>
            </a:r>
            <a:r>
              <a:rPr sz="1500" b="0" cap="small" spc="55" dirty="0">
                <a:latin typeface="Cambria"/>
                <a:cs typeface="Cambria"/>
              </a:rPr>
              <a:t>c</a:t>
            </a:r>
            <a:r>
              <a:rPr sz="1500" b="0" spc="55" dirty="0">
                <a:latin typeface="Cambria"/>
                <a:cs typeface="Cambria"/>
              </a:rPr>
              <a:t>tivity</a:t>
            </a:r>
            <a:r>
              <a:rPr sz="1500" b="0" spc="4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for</a:t>
            </a:r>
            <a:r>
              <a:rPr sz="1500" b="0" spc="3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advan</a:t>
            </a:r>
            <a:r>
              <a:rPr sz="1500" b="0" cap="small" spc="65" dirty="0">
                <a:latin typeface="Cambria"/>
                <a:cs typeface="Cambria"/>
              </a:rPr>
              <a:t>c</a:t>
            </a:r>
            <a:r>
              <a:rPr sz="1500" b="0" spc="65" dirty="0">
                <a:latin typeface="Cambria"/>
                <a:cs typeface="Cambria"/>
              </a:rPr>
              <a:t>ed</a:t>
            </a:r>
            <a:r>
              <a:rPr sz="1500" b="0" spc="25" dirty="0">
                <a:latin typeface="Cambria"/>
                <a:cs typeface="Cambria"/>
              </a:rPr>
              <a:t> </a:t>
            </a:r>
            <a:r>
              <a:rPr sz="1500" b="0" spc="55" dirty="0">
                <a:latin typeface="Cambria"/>
                <a:cs typeface="Cambria"/>
              </a:rPr>
              <a:t>data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analysis </a:t>
            </a:r>
            <a:r>
              <a:rPr sz="1500" b="0" spc="85" dirty="0">
                <a:latin typeface="Cambria"/>
                <a:cs typeface="Cambria"/>
              </a:rPr>
              <a:t>and</a:t>
            </a:r>
            <a:r>
              <a:rPr sz="1500" b="0" spc="-60" dirty="0">
                <a:latin typeface="Cambria"/>
                <a:cs typeface="Cambria"/>
              </a:rPr>
              <a:t> </a:t>
            </a:r>
            <a:r>
              <a:rPr sz="1500" b="0" cap="small" spc="75" dirty="0">
                <a:latin typeface="Cambria"/>
                <a:cs typeface="Cambria"/>
              </a:rPr>
              <a:t>c</a:t>
            </a:r>
            <a:r>
              <a:rPr sz="1500" b="0" spc="75" dirty="0">
                <a:latin typeface="Cambria"/>
                <a:cs typeface="Cambria"/>
              </a:rPr>
              <a:t>omprehensive</a:t>
            </a:r>
            <a:r>
              <a:rPr sz="1500" b="0" spc="20" dirty="0">
                <a:latin typeface="Cambria"/>
                <a:cs typeface="Cambria"/>
              </a:rPr>
              <a:t> </a:t>
            </a:r>
            <a:r>
              <a:rPr sz="1500" b="0" spc="110" dirty="0">
                <a:latin typeface="Cambria"/>
                <a:cs typeface="Cambria"/>
              </a:rPr>
              <a:t>long-</a:t>
            </a:r>
            <a:r>
              <a:rPr sz="1500" b="0" spc="75" dirty="0">
                <a:latin typeface="Cambria"/>
                <a:cs typeface="Cambria"/>
              </a:rPr>
              <a:t>term</a:t>
            </a:r>
            <a:r>
              <a:rPr sz="1500" b="0" spc="10" dirty="0">
                <a:latin typeface="Cambria"/>
                <a:cs typeface="Cambria"/>
              </a:rPr>
              <a:t> </a:t>
            </a:r>
            <a:r>
              <a:rPr sz="1500" b="0" spc="60" dirty="0">
                <a:latin typeface="Cambria"/>
                <a:cs typeface="Cambria"/>
              </a:rPr>
              <a:t>health</a:t>
            </a:r>
            <a:r>
              <a:rPr sz="1500" b="0" spc="6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trend</a:t>
            </a:r>
            <a:r>
              <a:rPr sz="1500" b="0" spc="30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monitoring.</a:t>
            </a: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Advanced</a:t>
            </a:r>
            <a:r>
              <a:rPr spc="175" dirty="0"/>
              <a:t> </a:t>
            </a:r>
            <a:r>
              <a:rPr dirty="0"/>
              <a:t>Sensor</a:t>
            </a:r>
            <a:r>
              <a:rPr spc="135" dirty="0"/>
              <a:t> </a:t>
            </a:r>
            <a:r>
              <a:rPr spc="-10" dirty="0"/>
              <a:t>Integration</a:t>
            </a:r>
          </a:p>
          <a:p>
            <a:pPr marL="12700" marR="716915">
              <a:lnSpc>
                <a:spcPct val="137700"/>
              </a:lnSpc>
              <a:spcBef>
                <a:spcPts val="845"/>
              </a:spcBef>
            </a:pPr>
            <a:r>
              <a:rPr sz="1500" b="0" spc="55" dirty="0">
                <a:latin typeface="Cambria"/>
                <a:cs typeface="Cambria"/>
              </a:rPr>
              <a:t>In</a:t>
            </a:r>
            <a:r>
              <a:rPr sz="1500" b="0" cap="small" spc="55" dirty="0">
                <a:latin typeface="Cambria"/>
                <a:cs typeface="Cambria"/>
              </a:rPr>
              <a:t>c</a:t>
            </a:r>
            <a:r>
              <a:rPr sz="1500" b="0" spc="55" dirty="0">
                <a:latin typeface="Cambria"/>
                <a:cs typeface="Cambria"/>
              </a:rPr>
              <a:t>orporate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more</a:t>
            </a:r>
            <a:r>
              <a:rPr sz="1500" b="0" spc="20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advan</a:t>
            </a:r>
            <a:r>
              <a:rPr sz="1500" b="0" cap="small" spc="75" dirty="0">
                <a:latin typeface="Cambria"/>
                <a:cs typeface="Cambria"/>
              </a:rPr>
              <a:t>c</a:t>
            </a:r>
            <a:r>
              <a:rPr sz="1500" b="0" spc="75" dirty="0">
                <a:latin typeface="Cambria"/>
                <a:cs typeface="Cambria"/>
              </a:rPr>
              <a:t>ed</a:t>
            </a:r>
            <a:r>
              <a:rPr sz="1500" b="0" spc="-60" dirty="0">
                <a:latin typeface="Cambria"/>
                <a:cs typeface="Cambria"/>
              </a:rPr>
              <a:t> </a:t>
            </a:r>
            <a:r>
              <a:rPr sz="1500" b="0" spc="60" dirty="0">
                <a:latin typeface="Cambria"/>
                <a:cs typeface="Cambria"/>
              </a:rPr>
              <a:t>sensors</a:t>
            </a:r>
            <a:r>
              <a:rPr sz="1500" b="0" spc="5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to</a:t>
            </a:r>
            <a:r>
              <a:rPr sz="1500" b="0" spc="50" dirty="0">
                <a:latin typeface="Cambria"/>
                <a:cs typeface="Cambria"/>
              </a:rPr>
              <a:t> tra</a:t>
            </a:r>
            <a:r>
              <a:rPr sz="1500" b="0" cap="small" spc="50" dirty="0">
                <a:latin typeface="Cambria"/>
                <a:cs typeface="Cambria"/>
              </a:rPr>
              <a:t>c</a:t>
            </a:r>
            <a:r>
              <a:rPr sz="1500" b="0" spc="50" dirty="0">
                <a:latin typeface="Cambria"/>
                <a:cs typeface="Cambria"/>
              </a:rPr>
              <a:t>k</a:t>
            </a:r>
            <a:r>
              <a:rPr sz="1500" b="0" spc="-15" dirty="0">
                <a:latin typeface="Cambria"/>
                <a:cs typeface="Cambria"/>
              </a:rPr>
              <a:t> </a:t>
            </a:r>
            <a:r>
              <a:rPr sz="1500" b="0" spc="80" dirty="0">
                <a:latin typeface="Cambria"/>
                <a:cs typeface="Cambria"/>
              </a:rPr>
              <a:t>a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wider</a:t>
            </a:r>
            <a:r>
              <a:rPr sz="1500" b="0" spc="30" dirty="0">
                <a:latin typeface="Cambria"/>
                <a:cs typeface="Cambria"/>
              </a:rPr>
              <a:t> </a:t>
            </a:r>
            <a:r>
              <a:rPr sz="1500" b="0" spc="55" dirty="0">
                <a:latin typeface="Cambria"/>
                <a:cs typeface="Cambria"/>
              </a:rPr>
              <a:t>array</a:t>
            </a:r>
            <a:r>
              <a:rPr sz="1500" b="0" spc="-35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of</a:t>
            </a:r>
            <a:r>
              <a:rPr sz="1500" b="0" spc="20" dirty="0">
                <a:latin typeface="Cambria"/>
                <a:cs typeface="Cambria"/>
              </a:rPr>
              <a:t> </a:t>
            </a:r>
            <a:r>
              <a:rPr sz="1500" b="0" spc="45" dirty="0">
                <a:latin typeface="Cambria"/>
                <a:cs typeface="Cambria"/>
              </a:rPr>
              <a:t>physiologi</a:t>
            </a:r>
            <a:r>
              <a:rPr sz="1500" b="0" cap="small" spc="45" dirty="0">
                <a:latin typeface="Cambria"/>
                <a:cs typeface="Cambria"/>
              </a:rPr>
              <a:t>c</a:t>
            </a:r>
            <a:r>
              <a:rPr sz="1500" b="0" spc="45" dirty="0">
                <a:latin typeface="Cambria"/>
                <a:cs typeface="Cambria"/>
              </a:rPr>
              <a:t>al</a:t>
            </a:r>
            <a:r>
              <a:rPr sz="1500" b="0" spc="4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parameters,</a:t>
            </a:r>
            <a:r>
              <a:rPr sz="1500" b="0" spc="40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in</a:t>
            </a:r>
            <a:r>
              <a:rPr sz="1500" b="0" cap="small" spc="70" dirty="0">
                <a:latin typeface="Cambria"/>
                <a:cs typeface="Cambria"/>
              </a:rPr>
              <a:t>c</a:t>
            </a:r>
            <a:r>
              <a:rPr sz="1500" b="0" spc="70" dirty="0">
                <a:latin typeface="Cambria"/>
                <a:cs typeface="Cambria"/>
              </a:rPr>
              <a:t>reasing</a:t>
            </a:r>
            <a:r>
              <a:rPr sz="1500" b="0" dirty="0">
                <a:latin typeface="Cambria"/>
                <a:cs typeface="Cambria"/>
              </a:rPr>
              <a:t> utility</a:t>
            </a:r>
            <a:r>
              <a:rPr sz="1500" b="0" spc="5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in</a:t>
            </a:r>
            <a:r>
              <a:rPr sz="1500" b="0" spc="-4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sports</a:t>
            </a:r>
            <a:r>
              <a:rPr sz="1500" b="0" spc="55" dirty="0">
                <a:latin typeface="Cambria"/>
                <a:cs typeface="Cambria"/>
              </a:rPr>
              <a:t> </a:t>
            </a:r>
            <a:r>
              <a:rPr sz="1500" b="0" spc="85" dirty="0">
                <a:latin typeface="Cambria"/>
                <a:cs typeface="Cambria"/>
              </a:rPr>
              <a:t>and</a:t>
            </a:r>
            <a:r>
              <a:rPr sz="1500" b="0" spc="-65" dirty="0">
                <a:latin typeface="Cambria"/>
                <a:cs typeface="Cambria"/>
              </a:rPr>
              <a:t> </a:t>
            </a:r>
            <a:r>
              <a:rPr sz="1500" b="0" spc="80" dirty="0">
                <a:latin typeface="Cambria"/>
                <a:cs typeface="Cambria"/>
              </a:rPr>
              <a:t>medi</a:t>
            </a:r>
            <a:r>
              <a:rPr sz="1500" b="0" cap="small" spc="80" dirty="0">
                <a:latin typeface="Cambria"/>
                <a:cs typeface="Cambria"/>
              </a:rPr>
              <a:t>c</a:t>
            </a:r>
            <a:r>
              <a:rPr sz="1500" b="0" spc="80" dirty="0">
                <a:latin typeface="Cambria"/>
                <a:cs typeface="Cambria"/>
              </a:rPr>
              <a:t>al </a:t>
            </a:r>
            <a:r>
              <a:rPr sz="1500" b="0" spc="40" dirty="0">
                <a:latin typeface="Cambria"/>
                <a:cs typeface="Cambria"/>
              </a:rPr>
              <a:t>rehabilitation.</a:t>
            </a: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Personalized</a:t>
            </a:r>
            <a:r>
              <a:rPr spc="114" dirty="0"/>
              <a:t> </a:t>
            </a:r>
            <a:r>
              <a:rPr dirty="0"/>
              <a:t>User</a:t>
            </a:r>
            <a:r>
              <a:rPr spc="85" dirty="0"/>
              <a:t> </a:t>
            </a:r>
            <a:r>
              <a:rPr spc="-10" dirty="0"/>
              <a:t>Experiences</a:t>
            </a: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500" b="0" spc="55" dirty="0">
                <a:latin typeface="Cambria"/>
                <a:cs typeface="Cambria"/>
              </a:rPr>
              <a:t>Develop</a:t>
            </a:r>
            <a:r>
              <a:rPr sz="1500" b="0" dirty="0">
                <a:latin typeface="Cambria"/>
                <a:cs typeface="Cambria"/>
              </a:rPr>
              <a:t> </a:t>
            </a:r>
            <a:r>
              <a:rPr sz="1500" b="0" cap="small" spc="60" dirty="0">
                <a:latin typeface="Cambria"/>
                <a:cs typeface="Cambria"/>
              </a:rPr>
              <a:t>c</a:t>
            </a:r>
            <a:r>
              <a:rPr sz="1500" b="0" spc="60" dirty="0">
                <a:latin typeface="Cambria"/>
                <a:cs typeface="Cambria"/>
              </a:rPr>
              <a:t>ustomizable</a:t>
            </a:r>
            <a:r>
              <a:rPr sz="1500" b="0" spc="10" dirty="0">
                <a:latin typeface="Cambria"/>
                <a:cs typeface="Cambria"/>
              </a:rPr>
              <a:t> </a:t>
            </a:r>
            <a:r>
              <a:rPr sz="1500" b="0" spc="55" dirty="0">
                <a:latin typeface="Cambria"/>
                <a:cs typeface="Cambria"/>
              </a:rPr>
              <a:t>dashboards</a:t>
            </a:r>
            <a:r>
              <a:rPr sz="1500" b="0" spc="45" dirty="0">
                <a:latin typeface="Cambria"/>
                <a:cs typeface="Cambria"/>
              </a:rPr>
              <a:t> </a:t>
            </a:r>
            <a:r>
              <a:rPr sz="1500" b="0" spc="60" dirty="0">
                <a:latin typeface="Cambria"/>
                <a:cs typeface="Cambria"/>
              </a:rPr>
              <a:t>and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alerts</a:t>
            </a:r>
            <a:r>
              <a:rPr sz="1500" b="0" spc="-40" dirty="0">
                <a:latin typeface="Cambria"/>
                <a:cs typeface="Cambria"/>
              </a:rPr>
              <a:t> </a:t>
            </a:r>
            <a:r>
              <a:rPr sz="1500" b="0" spc="10" dirty="0">
                <a:latin typeface="Cambria"/>
                <a:cs typeface="Cambria"/>
              </a:rPr>
              <a:t>tailored</a:t>
            </a:r>
            <a:r>
              <a:rPr sz="1500" b="0" spc="25" dirty="0">
                <a:latin typeface="Cambria"/>
                <a:cs typeface="Cambria"/>
              </a:rPr>
              <a:t> </a:t>
            </a:r>
            <a:r>
              <a:rPr sz="1500" b="0" spc="10" dirty="0">
                <a:latin typeface="Cambria"/>
                <a:cs typeface="Cambria"/>
              </a:rPr>
              <a:t>to</a:t>
            </a:r>
            <a:r>
              <a:rPr sz="1500" b="0" spc="45" dirty="0">
                <a:latin typeface="Cambria"/>
                <a:cs typeface="Cambria"/>
              </a:rPr>
              <a:t> individual</a:t>
            </a:r>
            <a:r>
              <a:rPr sz="1500" b="0" spc="3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athlete</a:t>
            </a:r>
            <a:r>
              <a:rPr sz="1500" b="0" spc="10" dirty="0">
                <a:latin typeface="Cambria"/>
                <a:cs typeface="Cambria"/>
              </a:rPr>
              <a:t> </a:t>
            </a:r>
            <a:r>
              <a:rPr sz="1500" b="0" spc="80" dirty="0">
                <a:latin typeface="Cambria"/>
                <a:cs typeface="Cambria"/>
              </a:rPr>
              <a:t>needs</a:t>
            </a:r>
            <a:r>
              <a:rPr sz="1500" b="0" spc="-40" dirty="0">
                <a:latin typeface="Cambria"/>
                <a:cs typeface="Cambria"/>
              </a:rPr>
              <a:t> </a:t>
            </a:r>
            <a:r>
              <a:rPr sz="1500" b="0" spc="85" dirty="0">
                <a:latin typeface="Cambria"/>
                <a:cs typeface="Cambria"/>
              </a:rPr>
              <a:t>and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performan</a:t>
            </a:r>
            <a:r>
              <a:rPr sz="1500" b="0" cap="small" spc="75" dirty="0">
                <a:latin typeface="Cambria"/>
                <a:cs typeface="Cambria"/>
              </a:rPr>
              <a:t>c</a:t>
            </a:r>
            <a:r>
              <a:rPr sz="1500" b="0" spc="75" dirty="0">
                <a:latin typeface="Cambria"/>
                <a:cs typeface="Cambria"/>
              </a:rPr>
              <a:t>e</a:t>
            </a:r>
            <a:r>
              <a:rPr sz="1500" b="0" spc="15" dirty="0">
                <a:latin typeface="Cambria"/>
                <a:cs typeface="Cambria"/>
              </a:rPr>
              <a:t> </a:t>
            </a:r>
            <a:r>
              <a:rPr sz="1500" b="0" spc="40" dirty="0">
                <a:latin typeface="Cambria"/>
                <a:cs typeface="Cambria"/>
              </a:rPr>
              <a:t>goals.</a:t>
            </a: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Sustainable</a:t>
            </a:r>
            <a:r>
              <a:rPr spc="60" dirty="0"/>
              <a:t> </a:t>
            </a:r>
            <a:r>
              <a:rPr dirty="0"/>
              <a:t>Power</a:t>
            </a:r>
            <a:r>
              <a:rPr spc="135" dirty="0"/>
              <a:t> </a:t>
            </a:r>
            <a:r>
              <a:rPr spc="-10" dirty="0"/>
              <a:t>Solutions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500" b="0" spc="55" dirty="0">
                <a:latin typeface="Cambria"/>
                <a:cs typeface="Cambria"/>
              </a:rPr>
              <a:t>Explore</a:t>
            </a:r>
            <a:r>
              <a:rPr sz="1500" b="0" spc="-5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self-</a:t>
            </a:r>
            <a:r>
              <a:rPr sz="1500" b="0" cap="small" spc="70" dirty="0">
                <a:latin typeface="Cambria"/>
                <a:cs typeface="Cambria"/>
              </a:rPr>
              <a:t>c</a:t>
            </a:r>
            <a:r>
              <a:rPr sz="1500" b="0" spc="70" dirty="0">
                <a:latin typeface="Cambria"/>
                <a:cs typeface="Cambria"/>
              </a:rPr>
              <a:t>harging</a:t>
            </a:r>
            <a:r>
              <a:rPr sz="1500" b="0" spc="5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or </a:t>
            </a:r>
            <a:r>
              <a:rPr sz="1500" b="0" spc="50" dirty="0">
                <a:latin typeface="Cambria"/>
                <a:cs typeface="Cambria"/>
              </a:rPr>
              <a:t>highly</a:t>
            </a:r>
            <a:r>
              <a:rPr sz="1500" b="0" spc="2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effi</a:t>
            </a:r>
            <a:r>
              <a:rPr sz="1500" b="0" cap="small" spc="65" dirty="0">
                <a:latin typeface="Cambria"/>
                <a:cs typeface="Cambria"/>
              </a:rPr>
              <a:t>c</a:t>
            </a:r>
            <a:r>
              <a:rPr sz="1500" b="0" spc="65" dirty="0">
                <a:latin typeface="Cambria"/>
                <a:cs typeface="Cambria"/>
              </a:rPr>
              <a:t>ient</a:t>
            </a:r>
            <a:r>
              <a:rPr sz="1500" b="0" spc="-25" dirty="0">
                <a:latin typeface="Cambria"/>
                <a:cs typeface="Cambria"/>
              </a:rPr>
              <a:t> </a:t>
            </a:r>
            <a:r>
              <a:rPr sz="1500" b="0" spc="60" dirty="0">
                <a:latin typeface="Cambria"/>
                <a:cs typeface="Cambria"/>
              </a:rPr>
              <a:t>power</a:t>
            </a:r>
            <a:r>
              <a:rPr sz="1500" b="0" spc="-75" dirty="0">
                <a:latin typeface="Cambria"/>
                <a:cs typeface="Cambria"/>
              </a:rPr>
              <a:t> </a:t>
            </a:r>
            <a:r>
              <a:rPr sz="1500" b="0" spc="55" dirty="0">
                <a:latin typeface="Cambria"/>
                <a:cs typeface="Cambria"/>
              </a:rPr>
              <a:t>solutions</a:t>
            </a:r>
            <a:r>
              <a:rPr sz="1500" b="0" spc="-55" dirty="0">
                <a:latin typeface="Cambria"/>
                <a:cs typeface="Cambria"/>
              </a:rPr>
              <a:t> </a:t>
            </a:r>
            <a:r>
              <a:rPr sz="1500" b="0" dirty="0">
                <a:latin typeface="Cambria"/>
                <a:cs typeface="Cambria"/>
              </a:rPr>
              <a:t>to</a:t>
            </a:r>
            <a:r>
              <a:rPr sz="1500" b="0" spc="30" dirty="0">
                <a:latin typeface="Cambria"/>
                <a:cs typeface="Cambria"/>
              </a:rPr>
              <a:t> </a:t>
            </a:r>
            <a:r>
              <a:rPr sz="1500" b="0" spc="65" dirty="0">
                <a:latin typeface="Cambria"/>
                <a:cs typeface="Cambria"/>
              </a:rPr>
              <a:t>further</a:t>
            </a:r>
            <a:r>
              <a:rPr sz="1500" b="0" spc="-75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extend</a:t>
            </a:r>
            <a:r>
              <a:rPr sz="1500" b="0" dirty="0">
                <a:latin typeface="Cambria"/>
                <a:cs typeface="Cambria"/>
              </a:rPr>
              <a:t> </a:t>
            </a:r>
            <a:r>
              <a:rPr sz="1500" b="0" spc="45" dirty="0">
                <a:latin typeface="Cambria"/>
                <a:cs typeface="Cambria"/>
              </a:rPr>
              <a:t>battery</a:t>
            </a:r>
            <a:r>
              <a:rPr sz="1500" b="0" spc="-55" dirty="0">
                <a:latin typeface="Cambria"/>
                <a:cs typeface="Cambria"/>
              </a:rPr>
              <a:t> </a:t>
            </a:r>
            <a:r>
              <a:rPr sz="1500" b="0" spc="50" dirty="0">
                <a:latin typeface="Cambria"/>
                <a:cs typeface="Cambria"/>
              </a:rPr>
              <a:t>life</a:t>
            </a:r>
            <a:r>
              <a:rPr sz="1500" b="0" dirty="0">
                <a:latin typeface="Cambria"/>
                <a:cs typeface="Cambria"/>
              </a:rPr>
              <a:t> </a:t>
            </a:r>
            <a:r>
              <a:rPr sz="1500" b="0" spc="85" dirty="0">
                <a:latin typeface="Cambria"/>
                <a:cs typeface="Cambria"/>
              </a:rPr>
              <a:t>and</a:t>
            </a:r>
            <a:r>
              <a:rPr sz="1500" b="0" spc="-80" dirty="0">
                <a:latin typeface="Cambria"/>
                <a:cs typeface="Cambria"/>
              </a:rPr>
              <a:t> </a:t>
            </a:r>
            <a:r>
              <a:rPr sz="1500" b="0" spc="75" dirty="0">
                <a:latin typeface="Cambria"/>
                <a:cs typeface="Cambria"/>
              </a:rPr>
              <a:t>redu</a:t>
            </a:r>
            <a:r>
              <a:rPr sz="1500" b="0" cap="small" spc="75" dirty="0">
                <a:latin typeface="Cambria"/>
                <a:cs typeface="Cambria"/>
              </a:rPr>
              <a:t>c</a:t>
            </a:r>
            <a:r>
              <a:rPr sz="1500" b="0" spc="75" dirty="0">
                <a:latin typeface="Cambria"/>
                <a:cs typeface="Cambria"/>
              </a:rPr>
              <a:t>e</a:t>
            </a:r>
            <a:r>
              <a:rPr sz="1500" b="0" spc="-5" dirty="0">
                <a:latin typeface="Cambria"/>
                <a:cs typeface="Cambria"/>
              </a:rPr>
              <a:t> </a:t>
            </a:r>
            <a:r>
              <a:rPr sz="1500" b="0" spc="70" dirty="0">
                <a:latin typeface="Cambria"/>
                <a:cs typeface="Cambria"/>
              </a:rPr>
              <a:t>environmental</a:t>
            </a:r>
            <a:r>
              <a:rPr sz="1500" b="0" spc="-55" dirty="0">
                <a:latin typeface="Cambria"/>
                <a:cs typeface="Cambria"/>
              </a:rPr>
              <a:t> </a:t>
            </a:r>
            <a:r>
              <a:rPr sz="1500" b="0" spc="60" dirty="0">
                <a:latin typeface="Cambria"/>
                <a:cs typeface="Cambria"/>
              </a:rPr>
              <a:t>impa</a:t>
            </a:r>
            <a:r>
              <a:rPr sz="1500" b="0" cap="small" spc="60" dirty="0">
                <a:latin typeface="Cambria"/>
                <a:cs typeface="Cambria"/>
              </a:rPr>
              <a:t>c</a:t>
            </a:r>
            <a:r>
              <a:rPr sz="1500" b="0" spc="60" dirty="0">
                <a:latin typeface="Cambria"/>
                <a:cs typeface="Cambria"/>
              </a:rPr>
              <a:t>t.</a:t>
            </a:r>
            <a:endParaRPr sz="1500" dirty="0">
              <a:latin typeface="Cambria"/>
              <a:cs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5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25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25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25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25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25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25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25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25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25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5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25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25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25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B8DC-21B4-231A-B71D-168CA9C5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0"/>
            <a:ext cx="13275310" cy="2031325"/>
          </a:xfrm>
        </p:spPr>
        <p:txBody>
          <a:bodyPr/>
          <a:lstStyle/>
          <a:p>
            <a:r>
              <a:rPr lang="en-IN" dirty="0"/>
              <a:t>REFERENCES</a:t>
            </a:r>
            <a:br>
              <a:rPr lang="en-IN" dirty="0"/>
            </a:br>
            <a:r>
              <a:rPr lang="en-IN" dirty="0"/>
              <a:t> 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2BA2B-1D5B-F854-115F-22C70C7D8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0170" y="2286000"/>
            <a:ext cx="11910060" cy="4901342"/>
          </a:xfrm>
        </p:spPr>
        <p:txBody>
          <a:bodyPr/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Bartolini, G., et al., A Differential Inertial Wearable Device for Breathing Parameter Measurement, Sensors, vol. 22, no. 24, pp. 9953, 2022.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Credence Research, Smart Wearables for Sports and Fitness Market by Type..., Market Report, 2025.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Gomez, R. B., et al., Wearable Sensor Technology for Monitoring Training Load and Health in the Athletic Population, Frontiers in Physiology, vol. 11, 2020.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Rappaport, S. M., Wearable Technology and Mobile Innovations for Next-Generation Education, IGI Global, 2024.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Revolutionizing sports the impact of next-generation wearable..., Journal of Medical and Sports Sciences, Jan. 2025.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 err="1"/>
              <a:t>Sekeroglu</a:t>
            </a:r>
            <a:r>
              <a:rPr lang="en-IN" sz="2000" dirty="0"/>
              <a:t>, M., </a:t>
            </a:r>
            <a:r>
              <a:rPr lang="en-IN" sz="2000" dirty="0" err="1"/>
              <a:t>Pekgo</a:t>
            </a:r>
            <a:r>
              <a:rPr lang="en-IN" sz="2000" dirty="0"/>
              <a:t>, M., Algin, A., et al., Transdisciplinary Innovations in Athlete Health 3D-Printable Wearable Sensors for Health Monitoring and Sports Psychology, Sensors, vol. 25, no. 1453, 2025.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Towards Healthcare, Fitness Tracker Market Trends, Drivers and Forecasts 2024--2034, Market Report, 2025.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Wearable Bluetooth Fitness Tracking Device Electronics for you DIY.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/>
              <a:t>Xu, X., et al., The application of smart wearable devices in the detection of sports energy consumption, ScienceDirect, 2025.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1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150" dirty="0"/>
              <a:t>Thank</a:t>
            </a:r>
            <a:r>
              <a:rPr sz="6150" spc="-65" dirty="0"/>
              <a:t> </a:t>
            </a:r>
            <a:r>
              <a:rPr sz="6150" spc="-475" dirty="0"/>
              <a:t>Y</a:t>
            </a:r>
            <a:r>
              <a:rPr sz="6150" spc="40" dirty="0"/>
              <a:t>ou</a:t>
            </a:r>
            <a:endParaRPr sz="6150"/>
          </a:p>
        </p:txBody>
      </p:sp>
      <p:sp>
        <p:nvSpPr>
          <p:cNvPr id="3" name="object 3"/>
          <p:cNvSpPr txBox="1"/>
          <p:nvPr/>
        </p:nvSpPr>
        <p:spPr>
          <a:xfrm>
            <a:off x="781684" y="4642167"/>
            <a:ext cx="25908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20" dirty="0">
                <a:solidFill>
                  <a:srgbClr val="C2C4B5"/>
                </a:solidFill>
                <a:latin typeface="Cambria"/>
                <a:cs typeface="Cambria"/>
              </a:rPr>
              <a:t>Are</a:t>
            </a:r>
            <a:r>
              <a:rPr sz="1700" spc="-50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there</a:t>
            </a:r>
            <a:r>
              <a:rPr sz="1700" spc="-4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C2C4B5"/>
                </a:solidFill>
                <a:latin typeface="Cambria"/>
                <a:cs typeface="Cambria"/>
              </a:rPr>
              <a:t>any</a:t>
            </a:r>
            <a:r>
              <a:rPr sz="1700" spc="-5" dirty="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C2C4B5"/>
                </a:solidFill>
                <a:latin typeface="Cambria"/>
                <a:cs typeface="Cambria"/>
              </a:rPr>
              <a:t>questions?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1280</Words>
  <Application>Microsoft Office PowerPoint</Application>
  <PresentationFormat>Custom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Cambria</vt:lpstr>
      <vt:lpstr>Office Theme</vt:lpstr>
      <vt:lpstr>Athlete Insight System Using Seeeduino Nano</vt:lpstr>
      <vt:lpstr>Introduction: Bridging Tech and Wellness</vt:lpstr>
      <vt:lpstr>Our Vision: Key Objectives</vt:lpstr>
      <vt:lpstr>Foundational Research: Literature Survey</vt:lpstr>
      <vt:lpstr>Foundational Research:Block Diagram</vt:lpstr>
      <vt:lpstr>System Architecture: Innovation at Its Core</vt:lpstr>
      <vt:lpstr>Implementation: Hardware &amp; Software</vt:lpstr>
      <vt:lpstr>Anticipated Outcomes: Key Findings</vt:lpstr>
      <vt:lpstr>Conclusion: Bridging Technology and Well-being</vt:lpstr>
      <vt:lpstr>Future Scope: Evolving the Athlete Insight System</vt:lpstr>
      <vt:lpstr>REFERENCES  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Pasi, Ranjeet [MEDIN NON-J&amp;J]</dc:creator>
  <cp:lastModifiedBy>Pratham Pasi</cp:lastModifiedBy>
  <cp:revision>3</cp:revision>
  <dcterms:created xsi:type="dcterms:W3CDTF">2025-10-05T08:27:22Z</dcterms:created>
  <dcterms:modified xsi:type="dcterms:W3CDTF">2025-10-31T07:18:16Z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2025-10-05T00:00:00Z</vt:filetime>
  </property>
  <property fmtid="{D5CDD505-2E9C-101B-9397-08002B2CF9AE}" pid="3" name="LastSaved">
    <vt:filetime>2025-10-05T00:00:00Z</vt:filetime>
  </property>
</Properties>
</file>